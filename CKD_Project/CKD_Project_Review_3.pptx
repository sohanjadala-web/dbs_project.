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_nephrology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731520"/>
            <a:ext cx="4846320" cy="27049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731520"/>
            <a:ext cx="56692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CAPSTONE PROJECT EVALUATION  •  REVIEW 3: TESTING &amp; INTEGRATION</a:t>
            </a:r>
          </a:p>
          <a:p>
            <a:pPr>
              <a:spcBef>
                <a:spcPts val="6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System Testing, Security &amp; Integration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Automated Pytest Suite, RBAC Security, Database Integrity Verification &amp; UI Workflows</a:t>
            </a:r>
          </a:p>
          <a:p>
            <a:pPr>
              <a:spcBef>
                <a:spcPts val="800"/>
              </a:spcBef>
              <a:defRPr sz="900">
                <a:solidFill>
                  <a:srgbClr val="475569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</a:t>
            </a:r>
          </a:p>
          <a:p>
            <a:pPr>
              <a:spcBef>
                <a:spcPts val="600"/>
              </a:spcBef>
              <a:defRPr b="1" sz="1000">
                <a:solidFill>
                  <a:srgbClr val="38BDF8"/>
                </a:solidFill>
              </a:defRPr>
            </a:pPr>
            <a:r>
              <a:t>Team 06 | Project Members: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2520090137 — Jayavarapu Sri Charan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2520080060 — J. Sohan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2520080036 — Adithya Vishnubatala</a:t>
            </a:r>
          </a:p>
          <a:p>
            <a:pPr>
              <a:spcBef>
                <a:spcPts val="800"/>
              </a:spcBef>
              <a:defRPr sz="900">
                <a:solidFill>
                  <a:srgbClr val="94A3B8"/>
                </a:solidFill>
              </a:defRPr>
            </a:pPr>
            <a:r>
              <a:t>Course: 25CS1302E — Database Management Systems (DBS) | KL University (KLH Campus)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REVIEW 3: TESTING &amp; INTEGRATION  •  REVIEW 3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Automated Test Suite (Pytest)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idn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02920" cy="485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25CS1302E — Database Management Systems (DBS) | KL University (KLH Campus)  |  Review 3  —  Slide 2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284C7"/>
                </a:solidFill>
              </a:defRPr>
            </a:pPr>
            <a:r>
              <a:t>test_auth.py</a:t>
            </a:r>
          </a:p>
          <a:p>
            <a:pPr>
              <a:spcBef>
                <a:spcPts val="300"/>
              </a:spcBef>
              <a:defRPr b="1" sz="1000">
                <a:solidFill>
                  <a:srgbClr val="0F172A"/>
                </a:solidFill>
              </a:defRPr>
            </a:pPr>
            <a:r>
              <a:t>User Authentication &amp; Registration</a:t>
            </a:r>
          </a:p>
          <a:p>
            <a:pPr>
              <a:spcBef>
                <a:spcPts val="800"/>
              </a:spcBef>
              <a:defRPr sz="850">
                <a:solidFill>
                  <a:srgbClr val="1E293B"/>
                </a:solidFill>
              </a:defRPr>
            </a:pPr>
            <a:r>
              <a:t>Validates successful login, password mismatch rejection, JWT issuance, and new patient registration flows.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284C7"/>
                </a:solidFill>
              </a:defRPr>
            </a:pPr>
            <a:r>
              <a:t>test_appointments.py</a:t>
            </a:r>
          </a:p>
          <a:p>
            <a:pPr>
              <a:spcBef>
                <a:spcPts val="300"/>
              </a:spcBef>
              <a:defRPr b="1" sz="1000">
                <a:solidFill>
                  <a:srgbClr val="0F172A"/>
                </a:solidFill>
              </a:defRPr>
            </a:pPr>
            <a:r>
              <a:t>Atomic Scheduling &amp; Collision Prevention</a:t>
            </a:r>
          </a:p>
          <a:p>
            <a:pPr>
              <a:spcBef>
                <a:spcPts val="800"/>
              </a:spcBef>
              <a:defRPr sz="850">
                <a:solidFill>
                  <a:srgbClr val="1E293B"/>
                </a:solidFill>
              </a:defRPr>
            </a:pPr>
            <a:r>
              <a:t>Validates successful appointment creation and proves immediate rejection of double-booking attempts.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284C7"/>
                </a:solidFill>
              </a:defRPr>
            </a:pPr>
            <a:r>
              <a:t>test_predictions.py</a:t>
            </a:r>
          </a:p>
          <a:p>
            <a:pPr>
              <a:spcBef>
                <a:spcPts val="300"/>
              </a:spcBef>
              <a:defRPr b="1" sz="1000">
                <a:solidFill>
                  <a:srgbClr val="0F172A"/>
                </a:solidFill>
              </a:defRPr>
            </a:pPr>
            <a:r>
              <a:t>Inference &amp; Feature Attribution</a:t>
            </a:r>
          </a:p>
          <a:p>
            <a:pPr>
              <a:spcBef>
                <a:spcPts val="800"/>
              </a:spcBef>
              <a:defRPr sz="850">
                <a:solidFill>
                  <a:srgbClr val="1E293B"/>
                </a:solidFill>
              </a:defRPr>
            </a:pPr>
            <a:r>
              <a:t>Submits clinical biomarker payloads, verifies prediction category generation, and ensures valid SHAP importance outputs.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43416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284C7"/>
                </a:solidFill>
              </a:defRPr>
            </a:pPr>
            <a:r>
              <a:t>test_database.py</a:t>
            </a:r>
          </a:p>
          <a:p>
            <a:pPr>
              <a:spcBef>
                <a:spcPts val="300"/>
              </a:spcBef>
              <a:defRPr b="1" sz="1000">
                <a:solidFill>
                  <a:srgbClr val="0F172A"/>
                </a:solidFill>
              </a:defRPr>
            </a:pPr>
            <a:r>
              <a:t>Database Integrity &amp; SQL Injection Defense</a:t>
            </a:r>
          </a:p>
          <a:p>
            <a:pPr>
              <a:spcBef>
                <a:spcPts val="800"/>
              </a:spcBef>
              <a:defRPr sz="850">
                <a:solidFill>
                  <a:srgbClr val="1E293B"/>
                </a:solidFill>
              </a:defRPr>
            </a:pPr>
            <a:r>
              <a:t>Validates demonstration SQL queries and proves parameterized queries reject malicious SQL injection payloads.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REVIEW 3: TESTING &amp; INTEGRATION  •  REVIEW 3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Concurrency Control: Double-Booking Prevention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idn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02920" cy="485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25CS1302E — Database Management Systems (DBS) | KL University (KLH Campus)  |  Review 3  —  Slide 3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E3A8A"/>
                </a:solidFill>
              </a:defRPr>
            </a:pPr>
            <a:r>
              <a:t>The Double-Booking Vulnerability in Healthcare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Race Condition Threat: </a:t>
            </a:r>
            <a:r>
              <a:rPr b="0"/>
              <a:t>Two patients simultaneously attempting to book Dr. Nephrologist at 10:00 AM on Monday.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Flawed Approach: </a:t>
            </a:r>
            <a:r>
              <a:rPr b="0"/>
              <a:t>Application-level checks (e.g. SELECT followed by INSERT) fail under high concurrency due to time-of-check to time-of-use (TOCTOU) race conditions.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Catastrophic Impact: </a:t>
            </a:r>
            <a:r>
              <a:rPr b="0"/>
              <a:t>Overbooked clinic hours, patient dissatisfaction, and doctor scheduling chaos.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2422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59669"/>
                </a:solidFill>
              </a:defRPr>
            </a:pPr>
            <a:r>
              <a:t>Our Relational &amp; Procedural Solution</a:t>
            </a:r>
          </a:p>
          <a:p>
            <a:pPr>
              <a:spcBef>
                <a:spcPts val="600"/>
              </a:spcBef>
              <a:defRPr b="1" sz="1000">
                <a:solidFill>
                  <a:srgbClr val="1E293B"/>
                </a:solidFill>
              </a:defRPr>
            </a:pPr>
            <a:r>
              <a:t>Composite UNIQUE Constraint: </a:t>
            </a:r>
            <a:r>
              <a:rPr b="0"/>
              <a:t>UNIQUE (doctor_id, appointment_date, time_slot) enforced directly by the database B-tree index.</a:t>
            </a:r>
          </a:p>
          <a:p>
            <a:pPr>
              <a:spcBef>
                <a:spcPts val="600"/>
              </a:spcBef>
              <a:defRPr b="1" sz="1000">
                <a:solidFill>
                  <a:srgbClr val="1E293B"/>
                </a:solidFill>
              </a:defRPr>
            </a:pPr>
            <a:r>
              <a:t>ACID Transaction Isolation: </a:t>
            </a:r>
            <a:r>
              <a:rPr b="0"/>
              <a:t>Stored procedure sp_book_appointment executes within an atomic transaction with immediate rollback on conflict.</a:t>
            </a:r>
          </a:p>
          <a:p>
            <a:pPr>
              <a:spcBef>
                <a:spcPts val="600"/>
              </a:spcBef>
              <a:defRPr b="1" sz="1000">
                <a:solidFill>
                  <a:srgbClr val="1E293B"/>
                </a:solidFill>
              </a:defRPr>
            </a:pPr>
            <a:r>
              <a:t>HTTP 409 Conflict: </a:t>
            </a:r>
            <a:r>
              <a:rPr b="0"/>
              <a:t>Second concurrent request receives structured HTTP 409 Conflict with a clear message that the slot is already taken.</a:t>
            </a:r>
          </a:p>
          <a:p>
            <a:pPr>
              <a:spcBef>
                <a:spcPts val="600"/>
              </a:spcBef>
              <a:defRPr b="1" sz="1000">
                <a:solidFill>
                  <a:srgbClr val="1E293B"/>
                </a:solidFill>
              </a:defRPr>
            </a:pPr>
            <a:r>
              <a:t>Pytest Verified: </a:t>
            </a:r>
            <a:r>
              <a:rPr b="0"/>
              <a:t>test_appointment_booking_and_double_booking_prevention programmatically confirms rejection.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REVIEW 3: TESTING &amp; INTEGRATION  •  REVIEW 3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Role-Based Access Control &amp; Security Auditing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idn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02920" cy="485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25CS1302E — Database Management Systems (DBS) | KL University (KLH Campus)  |  Review 3  —  Slide 4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422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76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E3A8A"/>
                </a:solidFill>
              </a:defRPr>
            </a:pPr>
            <a:r>
              <a:t>Admin Portal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System health stats, user account management, global prediction analytics, and live SQL query demonstration runner.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422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4876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E3A8A"/>
                </a:solidFill>
              </a:defRPr>
            </a:pPr>
            <a:r>
              <a:t>Doctor Portal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Consultation queue, Patient 360 view, one-click ML prediction execution with SHAP charts, clinical notes editor.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422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4876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E3A8A"/>
                </a:solidFill>
              </a:defRPr>
            </a:pPr>
            <a:r>
              <a:t>Lab Staff Portal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Pending test requisition queue, 24 biomarker parameter entry form, test verification gating, and patient alert creation.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2422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114800"/>
            <a:ext cx="4876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E3A8A"/>
                </a:solidFill>
              </a:defRPr>
            </a:pPr>
            <a:r>
              <a:t>Patient Portal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Personal health profile, 24-feature self-assessment form, doctor appointment booking, and verified report downloads.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REVIEW 3: TESTING &amp; INTEGRATION  •  REVIEW 3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Integrated User Portals: Doctor &amp; Admin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idn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02920" cy="485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25CS1302E — Database Management Systems (DBS) | KL University (KLH Campus)  |  Review 3  —  Slide 5 of 8</a:t>
            </a:r>
          </a:p>
        </p:txBody>
      </p:sp>
      <p:pic>
        <p:nvPicPr>
          <p:cNvPr id="7" name="Picture 6" descr="doctor_portal_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54480"/>
            <a:ext cx="5212080" cy="3160714"/>
          </a:xfrm>
          <a:prstGeom prst="rect">
            <a:avLst/>
          </a:prstGeom>
        </p:spPr>
      </p:pic>
      <p:pic>
        <p:nvPicPr>
          <p:cNvPr id="8" name="Picture 7" descr="admin_analytics_mock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554480"/>
            <a:ext cx="5212080" cy="29990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REVIEW 3: TESTING &amp; INTEGRATION  •  REVIEW 3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DBMS Views &amp; Live Query Demonstration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idn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02920" cy="485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25CS1302E — Database Management Systems (DBS) | KL University (KLH Campus)  |  Review 3  —  Slide 6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284C7"/>
                </a:solidFill>
              </a:defRPr>
            </a:pPr>
            <a:r>
              <a:t>v_patient_360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Composite 360-degree patient view uniting demographic details, latest lab test results, and latest CKD predictions.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284C7"/>
                </a:solidFill>
              </a:defRPr>
            </a:pPr>
            <a:r>
              <a:t>v_doctor_workload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Aggregates total appointments, completed reviews, and pending consultations per physician.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284C7"/>
                </a:solidFill>
              </a:defRPr>
            </a:pPr>
            <a:r>
              <a:t>v_lab_queue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Real-time list of pending biomarker requisitions highlighting abnormal values.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43416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284C7"/>
                </a:solidFill>
              </a:defRPr>
            </a:pPr>
            <a:r>
              <a:t>v_prediction_analytics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Statistical breakdown of CKD vs Not-CKD predictions, average confidence, and risk strata.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REVIEW 3: TESTING &amp; INTEGRATION  •  REVIEW 3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Security Controls: SQL Injection &amp; JWT Expiry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idn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02920" cy="485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25CS1302E — Database Management Systems (DBS) | KL University (KLH Campus)  |  Review 3  —  Slide 7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E3A8A"/>
                </a:solidFill>
              </a:defRPr>
            </a:pPr>
            <a:r>
              <a:t>Parameterized Queries &amp; SQL Injection Immunity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Zero String Concatenation: </a:t>
            </a:r>
            <a:r>
              <a:rPr b="0"/>
              <a:t>All queries use SQLAlchemy parameterized placeholders (:user_id, :email), completely immunizing the system against SQL injection attacks.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Validation Defense: </a:t>
            </a:r>
            <a:r>
              <a:rPr b="0"/>
              <a:t>Input payloads validated via Pydantic schemas before reaching the database driver layer.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Audit Trail: </a:t>
            </a:r>
            <a:r>
              <a:rPr b="0"/>
              <a:t>Automated triggers capture every prediction execution and clinical update.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2422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59669"/>
                </a:solidFill>
              </a:defRPr>
            </a:pPr>
            <a:r>
              <a:t>Cryptographic &amp; Authentication Hygiene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Bcrypt Password Hashing: </a:t>
            </a:r>
            <a:r>
              <a:rPr b="0"/>
              <a:t>Passwords salt-hashed using bcrypt; plain text passwords never stored in memory or disk.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JWT Tokens with Expiration: </a:t>
            </a:r>
            <a:r>
              <a:rPr b="0"/>
              <a:t>Cryptographically signed JWT bearer tokens with strict expiration timeouts.</a:t>
            </a:r>
          </a:p>
          <a:p>
            <a:pPr>
              <a:spcBef>
                <a:spcPts val="800"/>
              </a:spcBef>
              <a:defRPr b="1" sz="1000">
                <a:solidFill>
                  <a:srgbClr val="1E293B"/>
                </a:solidFill>
              </a:defRPr>
            </a:pPr>
            <a:r>
              <a:t>RBAC Middleware: </a:t>
            </a:r>
            <a:r>
              <a:rPr b="0"/>
              <a:t>Endpoints protected with role verification dependencies ensuring patients cannot access admin/doctor routes.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REVIEW 3: TESTING &amp; INTEGRATION  •  REVIEW 3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Review 3 Outcomes &amp; Final Demonstration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idn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02920" cy="485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25CS1302E — Database Management Systems (DBS) | KL University (KLH Campus)  |  Review 3  —  Slide 8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Integration Verification Accomplished</a:t>
            </a:r>
          </a:p>
          <a:p>
            <a:pPr>
              <a:spcBef>
                <a:spcPts val="1200"/>
              </a:spcBef>
              <a:defRPr b="1" sz="1100">
                <a:solidFill>
                  <a:srgbClr val="1E3A8A"/>
                </a:solidFill>
              </a:defRPr>
            </a:pPr>
            <a:r>
              <a:t>• Comprehensive Testing Completed: </a:t>
            </a:r>
            <a:r>
              <a:rPr b="0">
                <a:solidFill>
                  <a:srgbClr val="1E293B"/>
                </a:solidFill>
              </a:rPr>
              <a:t>Pytest suites verify authentication, appointment locking, lab results, and ML prediction pipelines.</a:t>
            </a:r>
          </a:p>
          <a:p>
            <a:pPr>
              <a:spcBef>
                <a:spcPts val="1200"/>
              </a:spcBef>
              <a:defRPr b="1" sz="1100">
                <a:solidFill>
                  <a:srgbClr val="1E3A8A"/>
                </a:solidFill>
              </a:defRPr>
            </a:pPr>
            <a:r>
              <a:t>• Security Standards Met: </a:t>
            </a:r>
            <a:r>
              <a:rPr b="0">
                <a:solidFill>
                  <a:srgbClr val="1E293B"/>
                </a:solidFill>
              </a:rPr>
              <a:t>Role-based access gating verified across all endpoints, parameterized queries prevent SQL injection.</a:t>
            </a:r>
          </a:p>
          <a:p>
            <a:pPr>
              <a:spcBef>
                <a:spcPts val="1200"/>
              </a:spcBef>
              <a:defRPr b="1" sz="1100">
                <a:solidFill>
                  <a:srgbClr val="1E3A8A"/>
                </a:solidFill>
              </a:defRPr>
            </a:pPr>
            <a:r>
              <a:t>• Ready for Review 4 (Final Evaluation): </a:t>
            </a:r>
            <a:r>
              <a:rPr b="0">
                <a:solidFill>
                  <a:srgbClr val="1E293B"/>
                </a:solidFill>
              </a:rPr>
              <a:t>Will demonstrate live end-to-end clinical workflow, empirical comparisons, future work, and conclude the capstone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