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_nephrology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731520"/>
            <a:ext cx="4846320" cy="27049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731520"/>
            <a:ext cx="56692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CAPSTONE PROJECT EVALUATION  •  REVIEW 1: LITERATURE SURVEY &amp; DESIGN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System Design &amp; Relational Modeling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t>Literature Review, Research Gaps, ER Diagrams, Relational Schema &amp; System Architecture</a:t>
            </a:r>
          </a:p>
          <a:p>
            <a:pPr>
              <a:spcBef>
                <a:spcPts val="800"/>
              </a:spcBef>
              <a:defRPr sz="900">
                <a:solidFill>
                  <a:srgbClr val="475569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600"/>
              </a:spcBef>
              <a:defRPr b="1" sz="1000">
                <a:solidFill>
                  <a:srgbClr val="38BDF8"/>
                </a:solidFill>
              </a:defRPr>
            </a:pPr>
            <a:r>
              <a:t>Team 06 | Project Members: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2520090137 — Jayavarapu Sri Charan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2520080060 — J. Sohan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• 2520080036 — Adithya Vishnubatala</a:t>
            </a:r>
          </a:p>
          <a:p>
            <a:pPr>
              <a:spcBef>
                <a:spcPts val="800"/>
              </a:spcBef>
              <a:defRPr sz="900">
                <a:solidFill>
                  <a:srgbClr val="94A3B8"/>
                </a:solidFill>
              </a:defRPr>
            </a:pPr>
            <a:r>
              <a:t>Course: 25CS1302E — Database Management Systems (DBS) | KL University (KLH Campus)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1: DESIGN &amp; ARCHITECTURE  •  REVIEW 1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Literature Survey &amp; State-of-the-Art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1  —  Slide 2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Capodici et al. (2023)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</a:defRPr>
            </a:pPr>
            <a:r>
              <a:t>Systematic Review of 68 AI Studies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</a:defRPr>
            </a:pPr>
            <a:r>
              <a:t>Evaluated ML in CKD diagnosis. Identified major gaps: lack of real-world clinical workflow integration and insufficient external data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Khalid et al. (2024)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</a:defRPr>
            </a:pPr>
            <a:r>
              <a:t>CKD Progression Prediction Models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</a:defRPr>
            </a:pPr>
            <a:r>
              <a:t>Demonstrated high predictive utility of gradient boosted trees but noted that models suffer when deployed without strict data preprocessing pipelines.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Pan &amp; Tong (2024)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</a:defRPr>
            </a:pPr>
            <a:r>
              <a:t>Meta-Analysis on Clinical Discrimination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</a:defRPr>
            </a:pPr>
            <a:r>
              <a:t>Confirmed high diagnostic discrimination of ensemble models across diverse test cohorts, emphasizing the necessity of model interpretability.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43416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Gogoi et al. (2024)</a:t>
            </a:r>
          </a:p>
          <a:p>
            <a:pPr>
              <a:spcBef>
                <a:spcPts val="300"/>
              </a:spcBef>
              <a:defRPr b="1" sz="950">
                <a:solidFill>
                  <a:srgbClr val="0F172A"/>
                </a:solidFill>
              </a:defRPr>
            </a:pPr>
            <a:r>
              <a:t>Trends &amp; Challenges in Nephrology AI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</a:defRPr>
            </a:pPr>
            <a:r>
              <a:t>Pointed out critical barriers: small datasets, black-box decision models, and isolated software systems lacking unified hospital database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1: DESIGN &amp; ARCHITECTURE  •  REVIEW 1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Identified Research Gaps &amp; Proposed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1  —  Slide 3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t>Gap 1: Data Silos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Identified Issue: Clinical records, lab test values, and predictions are stored in disconnected spreadsheets or isolated files.</a:t>
            </a:r>
          </a:p>
          <a:p>
            <a:pPr>
              <a:spcBef>
                <a:spcPts val="200"/>
              </a:spcBef>
              <a:defRPr b="1" sz="950">
                <a:solidFill>
                  <a:srgbClr val="059669"/>
                </a:solidFill>
              </a:defRPr>
            </a:pPr>
            <a:r>
              <a:t>Our System's Approach: Resolution: Centralized 3NF Relational DBMS uniting patients, tests, predictions, and consultations.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t>Gap 2: Black Box Barrier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Identified Issue: Clinicians distrust AI predictions when decision rationales are not transparent or physiologically explained.</a:t>
            </a:r>
          </a:p>
          <a:p>
            <a:pPr>
              <a:spcBef>
                <a:spcPts val="200"/>
              </a:spcBef>
              <a:defRPr b="1" sz="950">
                <a:solidFill>
                  <a:srgbClr val="059669"/>
                </a:solidFill>
              </a:defRPr>
            </a:pPr>
            <a:r>
              <a:t>Our System's Approach: Resolution: Integrated Tree SHAP game-theoretic explainability providing exact feature contributions.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DC2626"/>
                </a:solidFill>
              </a:defRPr>
            </a:pPr>
            <a:r>
              <a:t>Gap 3: Workflow Disconnect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Identified Issue: Algorithms operate in standalone scripts rather than within active hospital scheduling and lab workflows.</a:t>
            </a:r>
          </a:p>
          <a:p>
            <a:pPr>
              <a:spcBef>
                <a:spcPts val="200"/>
              </a:spcBef>
              <a:defRPr b="1" sz="950">
                <a:solidFill>
                  <a:srgbClr val="059669"/>
                </a:solidFill>
              </a:defRPr>
            </a:pPr>
            <a:r>
              <a:t>Our System's Approach: Resolution: End-to-end full stack platform with role-based routing from lab input to doctor consultation.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1: DESIGN &amp; ARCHITECTURE  •  REVIEW 1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4-Tier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1  —  Slide 4 of 8</a:t>
            </a: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6583680" cy="359109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554480"/>
            <a:ext cx="3870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Tier Descriptions:</a:t>
            </a:r>
          </a:p>
          <a:p>
            <a:pPr>
              <a:spcBef>
                <a:spcPts val="600"/>
              </a:spcBef>
              <a:defRPr b="1" sz="950">
                <a:solidFill>
                  <a:srgbClr val="0284C7"/>
                </a:solidFill>
              </a:defRPr>
            </a:pPr>
            <a:r>
              <a:t>Tier 1: Client Layer</a:t>
            </a:r>
            <a:r>
              <a:rPr b="0">
                <a:solidFill>
                  <a:srgbClr val="1E293B"/>
                </a:solidFill>
              </a:rPr>
              <a:t>
Responsive HTML5/CSS3/JS dashboards for Admin, Doctor, Staff, and Patient.</a:t>
            </a:r>
          </a:p>
          <a:p>
            <a:pPr>
              <a:spcBef>
                <a:spcPts val="600"/>
              </a:spcBef>
              <a:defRPr b="1" sz="950">
                <a:solidFill>
                  <a:srgbClr val="0284C7"/>
                </a:solidFill>
              </a:defRPr>
            </a:pPr>
            <a:r>
              <a:t>Tier 2: API Gateway Layer</a:t>
            </a:r>
            <a:r>
              <a:rPr b="0">
                <a:solidFill>
                  <a:srgbClr val="1E293B"/>
                </a:solidFill>
              </a:rPr>
              <a:t>
FastAPI asynchronous routing, JWT token verification, and RBAC authorization.</a:t>
            </a:r>
          </a:p>
          <a:p>
            <a:pPr>
              <a:spcBef>
                <a:spcPts val="600"/>
              </a:spcBef>
              <a:defRPr b="1" sz="950">
                <a:solidFill>
                  <a:srgbClr val="0284C7"/>
                </a:solidFill>
              </a:defRPr>
            </a:pPr>
            <a:r>
              <a:t>Tier 3: Business &amp; ML Layer</a:t>
            </a:r>
            <a:r>
              <a:rPr b="0">
                <a:solidFill>
                  <a:srgbClr val="1E293B"/>
                </a:solidFill>
              </a:rPr>
              <a:t>
SQLAlchemy ORM engine, Scikit-learn pipelines, XGBoost/LightGBM inference, and SHAP explainer.</a:t>
            </a:r>
          </a:p>
          <a:p>
            <a:pPr>
              <a:spcBef>
                <a:spcPts val="600"/>
              </a:spcBef>
              <a:defRPr b="1" sz="950">
                <a:solidFill>
                  <a:srgbClr val="0284C7"/>
                </a:solidFill>
              </a:defRPr>
            </a:pPr>
            <a:r>
              <a:t>Tier 4: Persistence Layer</a:t>
            </a:r>
            <a:r>
              <a:rPr b="0">
                <a:solidFill>
                  <a:srgbClr val="1E293B"/>
                </a:solidFill>
              </a:rPr>
              <a:t>
PostgreSQL relational DBMS with 3NF tables, indexes, views, triggers, and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1: DESIGN &amp; ARCHITECTURE  •  REVIEW 1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Entity-Relationship (ER)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1  —  Slide 5 of 8</a:t>
            </a:r>
          </a:p>
        </p:txBody>
      </p:sp>
      <p:pic>
        <p:nvPicPr>
          <p:cNvPr id="7" name="Picture 6" descr="database_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6583680" cy="359109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554480"/>
            <a:ext cx="3870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Key Entity Sets &amp; Cardinalities:</a:t>
            </a:r>
          </a:p>
          <a:p>
            <a:pPr>
              <a:spcBef>
                <a:spcPts val="400"/>
              </a:spcBef>
              <a:defRPr b="1" sz="950">
                <a:solidFill>
                  <a:srgbClr val="1E293B"/>
                </a:solidFill>
              </a:defRPr>
            </a:pPr>
            <a:r>
              <a:t>users (1:1 with roles):</a:t>
            </a:r>
            <a:r>
              <a:rPr b="0"/>
              <a:t> Base authentication entity; specialized into patients, doctors, and staff.</a:t>
            </a:r>
          </a:p>
          <a:p>
            <a:pPr>
              <a:spcBef>
                <a:spcPts val="400"/>
              </a:spcBef>
              <a:defRPr b="1" sz="950">
                <a:solidFill>
                  <a:srgbClr val="1E293B"/>
                </a:solidFill>
              </a:defRPr>
            </a:pPr>
            <a:r>
              <a:t>patients (1:N tests/preds):</a:t>
            </a:r>
            <a:r>
              <a:rPr b="0"/>
              <a:t> Central medical entity linked to test requisitions, predictions, and appointments.</a:t>
            </a:r>
          </a:p>
          <a:p>
            <a:pPr>
              <a:spcBef>
                <a:spcPts val="400"/>
              </a:spcBef>
              <a:defRPr b="1" sz="950">
                <a:solidFill>
                  <a:srgbClr val="1E293B"/>
                </a:solidFill>
              </a:defRPr>
            </a:pPr>
            <a:r>
              <a:t>appointments (N:1 doctor/pt):</a:t>
            </a:r>
            <a:r>
              <a:rPr b="0"/>
              <a:t> Relates patients and doctors with composite UNIQUE constraints on (doctor_id, appointment_date, time_slot).</a:t>
            </a:r>
          </a:p>
          <a:p>
            <a:pPr>
              <a:spcBef>
                <a:spcPts val="400"/>
              </a:spcBef>
              <a:defRPr b="1" sz="950">
                <a:solidFill>
                  <a:srgbClr val="1E293B"/>
                </a:solidFill>
              </a:defRPr>
            </a:pPr>
            <a:r>
              <a:t>lab_tests &amp; results (1:N):</a:t>
            </a:r>
            <a:r>
              <a:rPr b="0"/>
              <a:t> Structured test orders containing granular biomarker measurements.</a:t>
            </a:r>
          </a:p>
          <a:p>
            <a:pPr>
              <a:spcBef>
                <a:spcPts val="400"/>
              </a:spcBef>
              <a:defRPr b="1" sz="950">
                <a:solidFill>
                  <a:srgbClr val="1E293B"/>
                </a:solidFill>
              </a:defRPr>
            </a:pPr>
            <a:r>
              <a:t>predictions (N:1 patient):</a:t>
            </a:r>
            <a:r>
              <a:rPr b="0"/>
              <a:t> Stores ML inference confidence scores, risk categories, and JSON-encoded SHAP feature weights.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1: DESIGN &amp; ARCHITECTURE  •  REVIEW 1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Relational Schema Normalization (3NF)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1  —  Slide 6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1st Normal Form (1NF)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Atomic Values &amp; Uniqueness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All column values are atomic (e.g. no comma-separated biomarker lists). Primary keys enforce tuple uniqueness across all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2nd Normal Form (2NF)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Full Functional Dependency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No non-prime attribute is partially dependent on any candidate key. Composite appointment slots fully determine status and notes.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3rd Normal Form (3NF)</a:t>
            </a:r>
          </a:p>
          <a:p>
            <a:pPr>
              <a:spcBef>
                <a:spcPts val="400"/>
              </a:spcBef>
              <a:defRPr b="1" sz="1000">
                <a:solidFill>
                  <a:srgbClr val="0F172A"/>
                </a:solidFill>
              </a:defRPr>
            </a:pPr>
            <a:r>
              <a:t>No Transitive Dependencies</a:t>
            </a:r>
          </a:p>
          <a:p>
            <a:pPr>
              <a:spcBef>
                <a:spcPts val="800"/>
              </a:spcBef>
              <a:defRPr sz="950">
                <a:solidFill>
                  <a:srgbClr val="1E293B"/>
                </a:solidFill>
              </a:defRPr>
            </a:pPr>
            <a:r>
              <a:t>Non-key attributes depend solely on the primary key. Doctor department details and user authentication details are decoupled from patient tables.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1: DESIGN &amp; ARCHITECTURE  •  REVIEW 1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System Data Flow &amp; 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1  —  Slide 7 of 8</a:t>
            </a:r>
          </a:p>
        </p:txBody>
      </p:sp>
      <p:pic>
        <p:nvPicPr>
          <p:cNvPr id="7" name="Picture 6" descr="ml_pipeline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6583680" cy="33177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554480"/>
            <a:ext cx="38706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Operational Data Journey:</a:t>
            </a:r>
          </a:p>
          <a:p>
            <a:pPr>
              <a:spcBef>
                <a:spcPts val="600"/>
              </a:spcBef>
              <a:defRPr b="1" sz="950">
                <a:solidFill>
                  <a:srgbClr val="1E293B"/>
                </a:solidFill>
              </a:defRPr>
            </a:pPr>
            <a:r>
              <a:t>1. Intake &amp; Profiling:</a:t>
            </a:r>
            <a:r>
              <a:rPr b="0"/>
              <a:t>
Patient registers; demographic and baseline vitals committed to PostgreSQL.</a:t>
            </a:r>
          </a:p>
          <a:p>
            <a:pPr>
              <a:spcBef>
                <a:spcPts val="600"/>
              </a:spcBef>
              <a:defRPr b="1" sz="950">
                <a:solidFill>
                  <a:srgbClr val="1E293B"/>
                </a:solidFill>
              </a:defRPr>
            </a:pPr>
            <a:r>
              <a:t>2. Lab Requisition:</a:t>
            </a:r>
            <a:r>
              <a:rPr b="0"/>
              <a:t>
Doctor requests renal battery; lab technician measures and enters 24 biomarkers.</a:t>
            </a:r>
          </a:p>
          <a:p>
            <a:pPr>
              <a:spcBef>
                <a:spcPts val="600"/>
              </a:spcBef>
              <a:defRPr b="1" sz="950">
                <a:solidFill>
                  <a:srgbClr val="1E293B"/>
                </a:solidFill>
              </a:defRPr>
            </a:pPr>
            <a:r>
              <a:t>3. Preprocessing &amp; ML:</a:t>
            </a:r>
            <a:r>
              <a:rPr b="0"/>
              <a:t>
Imputer applies training medians/modes; StandardScaler scales numericals; XGBoost infers probability.</a:t>
            </a:r>
          </a:p>
          <a:p>
            <a:pPr>
              <a:spcBef>
                <a:spcPts val="600"/>
              </a:spcBef>
              <a:defRPr b="1" sz="950">
                <a:solidFill>
                  <a:srgbClr val="1E293B"/>
                </a:solidFill>
              </a:defRPr>
            </a:pPr>
            <a:r>
              <a:t>4. Explainability &amp; Storage:</a:t>
            </a:r>
            <a:r>
              <a:rPr b="0"/>
              <a:t>
SHAP explainer derives top risk factors; prediction record committed; doctor dashboard updates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REVIEW 1: DESIGN &amp; ARCHITECTURE  •  REVIEW 1</a:t>
            </a:r>
          </a:p>
          <a:p>
            <a:pPr>
              <a:spcBef>
                <a:spcPts val="200"/>
              </a:spcBef>
              <a:defRPr sz="2000" b="1">
                <a:solidFill>
                  <a:srgbClr val="0F172A"/>
                </a:solidFill>
                <a:latin typeface="Segoe UI"/>
              </a:defRPr>
            </a:pPr>
            <a:r>
              <a:t>Review 1 Accomplishments &amp; Review 2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idne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20040"/>
            <a:ext cx="502920" cy="485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25CS1302E — Database Management Systems (DBS) | KL University (KLH Campus)  |  Review 1  —  Slide 8 of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F172A"/>
                </a:solidFill>
              </a:defRPr>
            </a:pPr>
            <a:r>
              <a:t>Design Sign-off &amp; Implementation Readiness</a:t>
            </a:r>
          </a:p>
          <a:p>
            <a:pPr>
              <a:spcBef>
                <a:spcPts val="1200"/>
              </a:spcBef>
              <a:defRPr b="1" sz="1100">
                <a:solidFill>
                  <a:srgbClr val="1E3A8A"/>
                </a:solidFill>
              </a:defRPr>
            </a:pPr>
            <a:r>
              <a:t>• Formal Relational Schema: </a:t>
            </a:r>
            <a:r>
              <a:rPr b="0">
                <a:solidFill>
                  <a:srgbClr val="1E293B"/>
                </a:solidFill>
              </a:rPr>
              <a:t>All tables, foreign keys, and integrity constraints successfully modeled and validated against 3NF criteria.</a:t>
            </a:r>
          </a:p>
          <a:p>
            <a:pPr>
              <a:spcBef>
                <a:spcPts val="1200"/>
              </a:spcBef>
              <a:defRPr b="1" sz="1100">
                <a:solidFill>
                  <a:srgbClr val="1E3A8A"/>
                </a:solidFill>
              </a:defRPr>
            </a:pPr>
            <a:r>
              <a:t>• System Architecture Approved: </a:t>
            </a:r>
            <a:r>
              <a:rPr b="0">
                <a:solidFill>
                  <a:srgbClr val="1E293B"/>
                </a:solidFill>
              </a:rPr>
              <a:t>Decoupled 4-tier model ensures modularity between API services, ML routines, and database operations.</a:t>
            </a:r>
          </a:p>
          <a:p>
            <a:pPr>
              <a:spcBef>
                <a:spcPts val="1200"/>
              </a:spcBef>
              <a:defRPr b="1" sz="1100">
                <a:solidFill>
                  <a:srgbClr val="1E3A8A"/>
                </a:solidFill>
              </a:defRPr>
            </a:pPr>
            <a:r>
              <a:t>• Ready for Review 2 (Implementation): </a:t>
            </a:r>
            <a:r>
              <a:rPr b="0">
                <a:solidFill>
                  <a:srgbClr val="1E293B"/>
                </a:solidFill>
              </a:rPr>
              <a:t>Will demonstrate live DDL execution, stored procedures/triggers, FastAPI endpoint implementations, and model training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