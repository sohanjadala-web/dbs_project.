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778240" y="548640"/>
            <a:ext cx="2286000" cy="1005840"/>
          </a:xfrm>
          <a:prstGeom prst="roundRect">
            <a:avLst>
              <a:gd name="adj" fmla="val 8000"/>
            </a:avLst>
          </a:prstGeom>
          <a:solidFill>
            <a:srgbClr val="00919B"/>
          </a:solidFill>
          <a:ln w="1016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509760" y="182880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36B8BE"/>
          </a:solidFill>
          <a:ln w="10160">
            <a:solidFill>
              <a:srgbClr val="36B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69680" y="3246120"/>
            <a:ext cx="2286000" cy="1005840"/>
          </a:xfrm>
          <a:prstGeom prst="roundRect">
            <a:avLst>
              <a:gd name="adj" fmla="val 8000"/>
            </a:avLst>
          </a:prstGeom>
          <a:solidFill>
            <a:srgbClr val="2D9167"/>
          </a:solidFill>
          <a:ln w="10160">
            <a:solidFill>
              <a:srgbClr val="2D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509760" y="466344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E78F30"/>
          </a:solidFill>
          <a:ln w="10160">
            <a:solidFill>
              <a:srgbClr val="E7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777240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  <a:latin typeface="Aptos"/>
              </a:rPr>
              <a:t>THE CHRONIC KIDNEY DISEASE</a:t>
            </a:r>
            <a:br>
              <a:rPr dirty="0"/>
            </a:br>
            <a:r>
              <a:rPr dirty="0">
                <a:solidFill>
                  <a:schemeClr val="bg2"/>
                </a:solidFill>
              </a:rPr>
              <a:t>(CKD)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240280"/>
            <a:ext cx="7223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DE1EB"/>
                </a:solidFill>
                <a:latin typeface="Aptos"/>
              </a:rPr>
              <a:t>Database-driven healthcare platform for patient records, laboratory data, appointments and CKD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127248"/>
            <a:ext cx="1691640" cy="310896"/>
          </a:xfrm>
          <a:prstGeom prst="roundRect">
            <a:avLst>
              <a:gd name="adj" fmla="val 8000"/>
            </a:avLst>
          </a:prstGeom>
          <a:solidFill>
            <a:srgbClr val="00919B"/>
          </a:solidFill>
          <a:ln w="1016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3154679"/>
            <a:ext cx="15819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675887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Team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160520"/>
            <a:ext cx="6035040" cy="1417320"/>
          </a:xfrm>
          <a:prstGeom prst="roundRect">
            <a:avLst>
              <a:gd name="adj" fmla="val 8000"/>
            </a:avLst>
          </a:prstGeom>
          <a:solidFill>
            <a:srgbClr val="1B3C57"/>
          </a:solidFill>
          <a:ln w="10160">
            <a:solidFill>
              <a:srgbClr val="3E6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427024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6B8BE"/>
                </a:solidFill>
                <a:latin typeface="Aptos"/>
              </a:rPr>
              <a:t>ROLL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1" y="427024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6B8BE"/>
                </a:solidFill>
                <a:latin typeface="Aptos"/>
              </a:rPr>
              <a:t>TEAM 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572000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2520080060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1" y="4572000"/>
            <a:ext cx="3200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J. Sohan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882896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2520090137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1" y="4882896"/>
            <a:ext cx="3200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J. Sri charan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193792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2520080036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36391" y="5193792"/>
            <a:ext cx="3200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Adithya vishnubatala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989320"/>
            <a:ext cx="6035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4CDDA"/>
                </a:solidFill>
                <a:latin typeface="Aptos"/>
              </a:rPr>
              <a:t>25CS1302E  •  Y25–2026–2027  •  Trimester 4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11C5DBB-E646-BE87-51FE-9726FB5E0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679" y="0"/>
            <a:ext cx="505507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530352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04088" y="1325880"/>
            <a:ext cx="182880" cy="182880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1298448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What the system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Centralizes patient, doctor, laboratory, appointment and CKD prediction records.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Uses PostgreSQL for structured relational data and MongoDB for flexible clinical documents.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Provides a FastAPI backend with validation, authentication and role-based access.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Supports a CKD classification workflow using cleaned clinical input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34440"/>
            <a:ext cx="539496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81928" y="1325880"/>
            <a:ext cx="182880" cy="182880"/>
          </a:xfrm>
          <a:prstGeom prst="roundRect">
            <a:avLst/>
          </a:prstGeom>
          <a:solidFill>
            <a:srgbClr val="2D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5392" y="1298448"/>
            <a:ext cx="4892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Expected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828800"/>
            <a:ext cx="4800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A43"/>
                </a:solidFill>
                <a:latin typeface="Aptos"/>
              </a:rPr>
              <a:t>A secure and efficient healthcare data platform that connects clinical records, prediction results and appointment workflows in one system.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3246120"/>
            <a:ext cx="1234440" cy="310896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01383" y="3273551"/>
            <a:ext cx="11247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19B"/>
                </a:solidFill>
                <a:latin typeface="Aptos"/>
              </a:rPr>
              <a:t>PATIENT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3246120"/>
            <a:ext cx="1417320" cy="310896"/>
          </a:xfrm>
          <a:prstGeom prst="roundRect">
            <a:avLst>
              <a:gd name="adj" fmla="val 8000"/>
            </a:avLst>
          </a:prstGeom>
          <a:solidFill>
            <a:srgbClr val="FFEFDB"/>
          </a:solidFill>
          <a:ln w="10160">
            <a:solidFill>
              <a:srgbClr val="FFE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72984" y="3273551"/>
            <a:ext cx="130759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E78F30"/>
                </a:solidFill>
                <a:latin typeface="Aptos"/>
              </a:rPr>
              <a:t>CKD PREDICTION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3246120"/>
            <a:ext cx="1325880" cy="310896"/>
          </a:xfrm>
          <a:prstGeom prst="roundRect">
            <a:avLst>
              <a:gd name="adj" fmla="val 8000"/>
            </a:avLst>
          </a:prstGeom>
          <a:solidFill>
            <a:srgbClr val="E6F4EB"/>
          </a:solidFill>
          <a:ln w="10160">
            <a:solidFill>
              <a:srgbClr val="E6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27464" y="3273551"/>
            <a:ext cx="121615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D9167"/>
                </a:solidFill>
                <a:latin typeface="Aptos"/>
              </a:rPr>
              <a:t>APPOINTMENTS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3703320"/>
            <a:ext cx="1188720" cy="310896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 w="10160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01383" y="3730752"/>
            <a:ext cx="107899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F2A43"/>
                </a:solidFill>
                <a:latin typeface="Aptos"/>
              </a:rPr>
              <a:t>SECURE APIs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3703320"/>
            <a:ext cx="1188720" cy="310896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27264" y="3730752"/>
            <a:ext cx="107899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19B"/>
                </a:solidFill>
                <a:latin typeface="Aptos"/>
              </a:rPr>
              <a:t>SQL + NoSQL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3703320"/>
            <a:ext cx="1097280" cy="310896"/>
          </a:xfrm>
          <a:prstGeom prst="roundRect">
            <a:avLst>
              <a:gd name="adj" fmla="val 8000"/>
            </a:avLst>
          </a:prstGeom>
          <a:solidFill>
            <a:srgbClr val="F0EBF9"/>
          </a:solidFill>
          <a:ln w="10160">
            <a:solidFill>
              <a:srgbClr val="F0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53144" y="3730752"/>
            <a:ext cx="98755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6F4F96"/>
                </a:solidFill>
                <a:latin typeface="Aptos"/>
              </a:rPr>
              <a:t>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NEED FOR THE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539496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04088" y="1325880"/>
            <a:ext cx="182880" cy="182880"/>
          </a:xfrm>
          <a:prstGeom prst="roundRect">
            <a:avLst/>
          </a:prstGeom>
          <a:solidFill>
            <a:srgbClr val="C4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1298448"/>
            <a:ext cx="4892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Current challenges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755648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Patient, laboratory and appointment information may be stored in separate records.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Manual entry can create duplication, inconsistency and missing information.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Retrieving related clinical information can be slow and difficult.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Prediction results may not be linked directly to patient history.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Sensitive healthcare data requires controlled access and validation.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34440"/>
            <a:ext cx="539496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81928" y="1325880"/>
            <a:ext cx="182880" cy="182880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5392" y="1298448"/>
            <a:ext cx="4892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Problem to solve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828800"/>
            <a:ext cx="4800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A43"/>
                </a:solidFill>
                <a:latin typeface="Aptos"/>
              </a:rPr>
              <a:t>How can one platform securely manage healthcare records while also supporting CKD prediction and appointment workflows?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75120" y="3794760"/>
            <a:ext cx="4069080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0" y="4251960"/>
            <a:ext cx="15087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4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4251960"/>
            <a:ext cx="73152" cy="658368"/>
          </a:xfrm>
          <a:prstGeom prst="rect">
            <a:avLst/>
          </a:prstGeom>
          <a:solidFill>
            <a:srgbClr val="C4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5392" y="4325112"/>
            <a:ext cx="1252728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Scattered records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4251960"/>
            <a:ext cx="15087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7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83879" y="4251960"/>
            <a:ext cx="73152" cy="658368"/>
          </a:xfrm>
          <a:prstGeom prst="rect">
            <a:avLst/>
          </a:prstGeom>
          <a:solidFill>
            <a:srgbClr val="E7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48471" y="4325112"/>
            <a:ext cx="1252728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Manual processing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66960" y="4251960"/>
            <a:ext cx="15087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F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966960" y="4251960"/>
            <a:ext cx="73152" cy="65836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31552" y="4325112"/>
            <a:ext cx="1252728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Limited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WHY THIS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1499616"/>
            <a:ext cx="2249424" cy="4462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00919B"/>
                </a:solidFill>
                <a:latin typeface="Aptos"/>
              </a:rPr>
              <a:t>SQL</a:t>
            </a:r>
            <a:endParaRPr sz="2300" b="1" dirty="0">
              <a:solidFill>
                <a:srgbClr val="00919B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8" y="1901952"/>
            <a:ext cx="22494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5F7484"/>
                </a:solidFill>
                <a:latin typeface="Aptos"/>
              </a:rPr>
              <a:t>Structured + flexible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371600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38728" y="1499616"/>
            <a:ext cx="22494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2D9167"/>
                </a:solidFill>
                <a:latin typeface="Aptos"/>
              </a:rPr>
              <a:t>One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1901952"/>
            <a:ext cx="22494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5F7484"/>
                </a:solidFill>
                <a:latin typeface="Aptos"/>
              </a:rPr>
              <a:t>Clinical workflow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371600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36208" y="1499616"/>
            <a:ext cx="22494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E78F30"/>
                </a:solidFill>
                <a:latin typeface="Aptos"/>
              </a:rPr>
              <a:t>CKD 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1901952"/>
            <a:ext cx="22494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5F7484"/>
                </a:solidFill>
                <a:latin typeface="Aptos"/>
              </a:rPr>
              <a:t>Prediction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371600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33688" y="1499616"/>
            <a:ext cx="22494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0F2A43"/>
                </a:solidFill>
                <a:latin typeface="Aptos"/>
              </a:rPr>
              <a:t>RBAC + Auth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3688" y="1901952"/>
            <a:ext cx="22494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5F7484"/>
                </a:solidFill>
                <a:latin typeface="Aptos"/>
              </a:rPr>
              <a:t>Security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743200"/>
            <a:ext cx="1056132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41248" y="2834640"/>
            <a:ext cx="182880" cy="182880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24712" y="280720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Project motivation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291840"/>
            <a:ext cx="9966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43746"/>
                </a:solidFill>
                <a:latin typeface="Aptos"/>
              </a:defRPr>
            </a:pPr>
            <a:r>
              <a:t>• Demonstrate how database engineering can improve organization of healthcare information.</a:t>
            </a:r>
          </a:p>
          <a:p>
            <a:pPr>
              <a:spcAft>
                <a:spcPts val="700"/>
              </a:spcAft>
              <a:defRPr sz="1600">
                <a:solidFill>
                  <a:srgbClr val="243746"/>
                </a:solidFill>
                <a:latin typeface="Aptos"/>
              </a:defRPr>
            </a:pPr>
            <a:r>
              <a:t>• Connect patient history, laboratory measurements and prediction records through a common patient identity.</a:t>
            </a:r>
          </a:p>
          <a:p>
            <a:pPr>
              <a:spcAft>
                <a:spcPts val="700"/>
              </a:spcAft>
              <a:defRPr sz="1600">
                <a:solidFill>
                  <a:srgbClr val="243746"/>
                </a:solidFill>
                <a:latin typeface="Aptos"/>
              </a:defRPr>
            </a:pPr>
            <a:r>
              <a:t>• Create a practical backend architecture that can grow toward distributed deployment.</a:t>
            </a:r>
          </a:p>
          <a:p>
            <a:pPr>
              <a:spcAft>
                <a:spcPts val="700"/>
              </a:spcAft>
              <a:defRPr sz="1600">
                <a:solidFill>
                  <a:srgbClr val="243746"/>
                </a:solidFill>
                <a:latin typeface="Aptos"/>
              </a:defRPr>
            </a:pPr>
            <a:r>
              <a:t>• Provide a clear workflow from patient registration to prediction and appointment 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PROJECT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507492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39903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919B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344168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A43"/>
                </a:solidFill>
                <a:latin typeface="Aptos"/>
              </a:rPr>
              <a:t>Centralize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691640"/>
            <a:ext cx="3886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7484"/>
                </a:solidFill>
                <a:latin typeface="Aptos"/>
              </a:rPr>
              <a:t>Manage patient, doctor, lab, appointment and prediction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507492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39903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919B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344168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A43"/>
                </a:solidFill>
                <a:latin typeface="Aptos"/>
              </a:rPr>
              <a:t>Ensure integrity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691640"/>
            <a:ext cx="3886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7484"/>
                </a:solidFill>
                <a:latin typeface="Aptos"/>
              </a:rPr>
              <a:t>Use keys, constraints, validation and transactions.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743200"/>
            <a:ext cx="507492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" y="29077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919B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2852928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A43"/>
                </a:solidFill>
                <a:latin typeface="Aptos"/>
              </a:rPr>
              <a:t>Predict CKD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200400"/>
            <a:ext cx="3886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7484"/>
                </a:solidFill>
                <a:latin typeface="Aptos"/>
              </a:rPr>
              <a:t>Process clinical features and store prediction history.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743200"/>
            <a:ext cx="507492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29077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919B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852928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A43"/>
                </a:solidFill>
                <a:latin typeface="Aptos"/>
              </a:rPr>
              <a:t>Secure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200400"/>
            <a:ext cx="3886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7484"/>
                </a:solidFill>
                <a:latin typeface="Aptos"/>
              </a:rPr>
              <a:t>Apply authentication and role-based authorization.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251960"/>
            <a:ext cx="507492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392" y="441655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919B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361688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A43"/>
                </a:solidFill>
                <a:latin typeface="Aptos"/>
              </a:rPr>
              <a:t>Integrate databases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709160"/>
            <a:ext cx="3886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7484"/>
                </a:solidFill>
                <a:latin typeface="Aptos"/>
              </a:rPr>
              <a:t>Combine PostgreSQL and MongoDB through APIs.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251960"/>
            <a:ext cx="507492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82512" y="441655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919B"/>
                </a:solidFill>
                <a:latin typeface="Apto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361688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A43"/>
                </a:solidFill>
                <a:latin typeface="Aptos"/>
              </a:rPr>
              <a:t>Prepare for 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709160"/>
            <a:ext cx="3886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7484"/>
                </a:solidFill>
                <a:latin typeface="Aptos"/>
              </a:rPr>
              <a:t>Design services for containerized and observable deployment.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WHAT EXISTING RESEARCH SHOWS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Capodici et al. (2023)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344168"/>
            <a:ext cx="7315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3746"/>
                </a:solidFill>
                <a:latin typeface="Aptos"/>
              </a:rPr>
              <a:t>Reviewed 68 CKD AI/ML studies; highlighted promising performance but limited generalizability and limited clinical validation.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04872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54203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Khalid et al. (2024)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514600"/>
            <a:ext cx="7315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3746"/>
                </a:solidFill>
                <a:latin typeface="Aptos"/>
              </a:rPr>
              <a:t>Found ML useful for CKD progression prediction; emphasized data quality, bias, external validation and clinical implementation.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75304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712464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Pan &amp; Tong (2024)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685032"/>
            <a:ext cx="7315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3746"/>
                </a:solidFill>
                <a:latin typeface="Aptos"/>
              </a:rPr>
              <a:t>Meta-analysis reported strong overall diagnostic discrimination across AI studies, while showing substantial heterogeneity.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745736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882896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Gogoi et al. (2024)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855464"/>
            <a:ext cx="7315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3746"/>
                </a:solidFill>
                <a:latin typeface="Aptos"/>
              </a:rPr>
              <a:t>Reviewed CKD prediction trends and identified small datasets, limited stage-specific prediction, interpretability and privacy as recurring issues.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98932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919B"/>
                </a:solidFill>
                <a:latin typeface="Aptos"/>
              </a:rPr>
              <a:t>Key takeaway: CKD prediction is promising, but real-world systems need stronger integration, validation, privacy and data management.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WHAT IS STILL MISSING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33375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0392" y="1490472"/>
            <a:ext cx="685800" cy="310896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256" y="1517904"/>
            <a:ext cx="57607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19B"/>
                </a:solidFill>
                <a:latin typeface="Aptos"/>
              </a:rPr>
              <a:t>GAP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920240"/>
            <a:ext cx="30083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A43"/>
                </a:solidFill>
                <a:latin typeface="Aptos"/>
              </a:rPr>
              <a:t>Small / narrow datasets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267712"/>
            <a:ext cx="300837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7484"/>
                </a:solidFill>
                <a:latin typeface="Aptos"/>
              </a:rPr>
              <a:t>Many studies rely on limited datasets or single sources.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325880"/>
            <a:ext cx="33375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07992" y="1490472"/>
            <a:ext cx="685800" cy="310896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62855" y="1517904"/>
            <a:ext cx="57607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19B"/>
                </a:solidFill>
                <a:latin typeface="Aptos"/>
              </a:rPr>
              <a:t>GAP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1920240"/>
            <a:ext cx="30083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A43"/>
                </a:solidFill>
                <a:latin typeface="Aptos"/>
              </a:rPr>
              <a:t>Limited system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267712"/>
            <a:ext cx="300837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7484"/>
                </a:solidFill>
                <a:latin typeface="Aptos"/>
              </a:rPr>
              <a:t>Prediction is often evaluated separately from patient records and workflows.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325880"/>
            <a:ext cx="33375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165592" y="1490472"/>
            <a:ext cx="685800" cy="310896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0456" y="1517904"/>
            <a:ext cx="57607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19B"/>
                </a:solidFill>
                <a:latin typeface="Aptos"/>
              </a:rPr>
              <a:t>GAP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1920240"/>
            <a:ext cx="30083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A43"/>
                </a:solidFill>
                <a:latin typeface="Aptos"/>
              </a:rPr>
              <a:t>Generalization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2267712"/>
            <a:ext cx="300837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7484"/>
                </a:solidFill>
                <a:latin typeface="Aptos"/>
              </a:rPr>
              <a:t>Models may not be tested across diverse populations or external settings.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474720"/>
            <a:ext cx="51663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50392" y="3639312"/>
            <a:ext cx="685800" cy="310896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5256" y="3666744"/>
            <a:ext cx="57607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19B"/>
                </a:solidFill>
                <a:latin typeface="Aptos"/>
              </a:rPr>
              <a:t>GAP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4069080"/>
            <a:ext cx="48371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A43"/>
                </a:solidFill>
                <a:latin typeface="Aptos"/>
              </a:rPr>
              <a:t>Interpretability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4416552"/>
            <a:ext cx="483717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7484"/>
                </a:solidFill>
                <a:latin typeface="Aptos"/>
              </a:rPr>
              <a:t>Clinical users need understandable outputs, not only a class label.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474720"/>
            <a:ext cx="51663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291072" y="3639312"/>
            <a:ext cx="685800" cy="310896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45936" y="3666744"/>
            <a:ext cx="57607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19B"/>
                </a:solidFill>
                <a:latin typeface="Aptos"/>
              </a:rPr>
              <a:t>GAP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1072" y="4069080"/>
            <a:ext cx="48371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A43"/>
                </a:solidFill>
                <a:latin typeface="Aptos"/>
              </a:rPr>
              <a:t>Privacy &amp; security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1072" y="4416552"/>
            <a:ext cx="483717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7484"/>
                </a:solidFill>
                <a:latin typeface="Aptos"/>
              </a:rPr>
              <a:t>Healthcare data requires stronger access control and secure data handling.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END-TO-END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73152" cy="91440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901952"/>
            <a:ext cx="11612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1</a:t>
            </a:r>
            <a:br/>
            <a:r>
              <a:t>Collect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2286000"/>
            <a:ext cx="210312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2971800"/>
            <a:ext cx="148132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F7484"/>
                </a:solidFill>
                <a:latin typeface="Aptos"/>
              </a:rPr>
              <a:t>Public CKD dataset + project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0552" y="18288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130552" y="1828800"/>
            <a:ext cx="73152" cy="91440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95144" y="1901952"/>
            <a:ext cx="11612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2</a:t>
            </a:r>
            <a:br/>
            <a:r>
              <a:t>Clean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47872" y="2286000"/>
            <a:ext cx="210312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103120" y="2971800"/>
            <a:ext cx="148132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F7484"/>
                </a:solidFill>
                <a:latin typeface="Aptos"/>
              </a:rPr>
              <a:t>Handle missing, invalid and categorical values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58184" y="18288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758184" y="1828800"/>
            <a:ext cx="73152" cy="91440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22776" y="1901952"/>
            <a:ext cx="11612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3</a:t>
            </a:r>
            <a:br/>
            <a:r>
              <a:t>Store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175504" y="2286000"/>
            <a:ext cx="210312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730752" y="2971800"/>
            <a:ext cx="148132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F7484"/>
                </a:solidFill>
                <a:latin typeface="Aptos"/>
              </a:rPr>
              <a:t>Load structured data to PostgreSQL; flexible records to MongoDB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85816" y="18288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385816" y="1828800"/>
            <a:ext cx="73152" cy="91440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50407" y="1901952"/>
            <a:ext cx="11612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4</a:t>
            </a:r>
            <a:br/>
            <a:r>
              <a:t>Predict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3136" y="2286000"/>
            <a:ext cx="210312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358383" y="2971800"/>
            <a:ext cx="148132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F7484"/>
                </a:solidFill>
                <a:latin typeface="Aptos"/>
              </a:rPr>
              <a:t>Transform clinical inputs and run CKD classifier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13448" y="18288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F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013448" y="1828800"/>
            <a:ext cx="73152" cy="91440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78040" y="1901952"/>
            <a:ext cx="11612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5</a:t>
            </a:r>
            <a:br/>
            <a:r>
              <a:t>Integrate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30768" y="2286000"/>
            <a:ext cx="210312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986016" y="2971800"/>
            <a:ext cx="148132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F7484"/>
                </a:solidFill>
                <a:latin typeface="Aptos"/>
              </a:rPr>
              <a:t>Expose services through FastAPI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41080" y="18288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F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641080" y="1828800"/>
            <a:ext cx="73152" cy="91440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805672" y="1901952"/>
            <a:ext cx="11612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6</a:t>
            </a:r>
            <a:br/>
            <a:r>
              <a:t>Secure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058400" y="2286000"/>
            <a:ext cx="210312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613648" y="2971800"/>
            <a:ext cx="148132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F7484"/>
                </a:solidFill>
                <a:latin typeface="Aptos"/>
              </a:rPr>
              <a:t>Authenticate, authorize, validate and audit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68712" y="18288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F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268712" y="1828800"/>
            <a:ext cx="73152" cy="91440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433304" y="1901952"/>
            <a:ext cx="11612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7</a:t>
            </a:r>
            <a:br/>
            <a:r>
              <a:t>Evaluate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2971800"/>
            <a:ext cx="148132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F7484"/>
                </a:solidFill>
                <a:latin typeface="Aptos"/>
              </a:rPr>
              <a:t>Test functionality, model metrics and API performance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480060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F2A43"/>
                </a:solidFill>
                <a:latin typeface="Aptos"/>
              </a:rPr>
              <a:t>Raw data → cleaning → validation → database loading → prediction → secure API → evaluation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LAYERED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15568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B"/>
                </a:solidFill>
                <a:latin typeface="Aptos"/>
              </a:rP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11556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B"/>
                </a:solidFill>
                <a:latin typeface="Aptos"/>
              </a:rPr>
              <a:t>API &amp;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111556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B"/>
                </a:solidFill>
                <a:latin typeface="Aptos"/>
              </a:rPr>
              <a:t>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111556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B"/>
                </a:solidFill>
                <a:latin typeface="Aptos"/>
              </a:rPr>
              <a:t>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81328"/>
            <a:ext cx="16916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1481328"/>
            <a:ext cx="73152" cy="713232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" y="1527048"/>
            <a:ext cx="143560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F2A43"/>
                </a:solidFill>
                <a:latin typeface="Aptos"/>
              </a:rPr>
              <a:t>Web / Mobile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1481328"/>
            <a:ext cx="16916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F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0" y="1481328"/>
            <a:ext cx="73152" cy="713232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89504" y="1527048"/>
            <a:ext cx="143560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F2A43"/>
                </a:solidFill>
                <a:latin typeface="Aptos"/>
              </a:rPr>
              <a:t>FastAPI Gateway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1481328"/>
            <a:ext cx="16916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F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800600" y="1481328"/>
            <a:ext cx="73152" cy="713232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46904" y="1527048"/>
            <a:ext cx="143560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Auth + RBAC</a:t>
            </a:r>
            <a:br/>
            <a:r>
              <a:t>Validation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77440" y="1837943"/>
            <a:ext cx="365760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34840" y="1837943"/>
            <a:ext cx="365760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903720" y="1481328"/>
            <a:ext cx="107899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903720" y="1481328"/>
            <a:ext cx="73152" cy="713232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50024" y="1527048"/>
            <a:ext cx="82295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F2A43"/>
                </a:solidFill>
                <a:latin typeface="Aptos"/>
              </a:rPr>
              <a:t>Patient Service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1481328"/>
            <a:ext cx="107899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D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38160" y="1481328"/>
            <a:ext cx="73152" cy="713232"/>
          </a:xfrm>
          <a:prstGeom prst="rect">
            <a:avLst/>
          </a:prstGeom>
          <a:solidFill>
            <a:srgbClr val="2D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84464" y="1527048"/>
            <a:ext cx="82295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F2A43"/>
                </a:solidFill>
                <a:latin typeface="Aptos"/>
              </a:rPr>
              <a:t>Lab Service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72600" y="1481328"/>
            <a:ext cx="107899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7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372600" y="1481328"/>
            <a:ext cx="73152" cy="713232"/>
          </a:xfrm>
          <a:prstGeom prst="rect">
            <a:avLst/>
          </a:prstGeom>
          <a:solidFill>
            <a:srgbClr val="E7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18904" y="1527048"/>
            <a:ext cx="82295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F2A43"/>
                </a:solidFill>
                <a:latin typeface="Aptos"/>
              </a:rPr>
              <a:t>Prediction Service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07040" y="1481328"/>
            <a:ext cx="107899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F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607040" y="1481328"/>
            <a:ext cx="73152" cy="713232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753344" y="1527048"/>
            <a:ext cx="82295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F2A43"/>
                </a:solidFill>
                <a:latin typeface="Aptos"/>
              </a:rPr>
              <a:t>Appointment Service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492240" y="1837943"/>
            <a:ext cx="411480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85800" y="297180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B"/>
                </a:solidFill>
                <a:latin typeface="Aptos"/>
              </a:rPr>
              <a:t>DATA STORAGE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401568"/>
            <a:ext cx="42976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14400" y="3401568"/>
            <a:ext cx="73152" cy="114300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60704" y="3447288"/>
            <a:ext cx="4041648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PostgreSQL</a:t>
            </a:r>
            <a:br/>
            <a:r>
              <a:t>Patients • Doctors • Tests</a:t>
            </a:r>
            <a:br/>
            <a:r>
              <a:t>Appointments • Predictions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12280" y="3401568"/>
            <a:ext cx="42976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D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12280" y="3401568"/>
            <a:ext cx="73152" cy="1143000"/>
          </a:xfrm>
          <a:prstGeom prst="rect">
            <a:avLst/>
          </a:prstGeom>
          <a:solidFill>
            <a:srgbClr val="2D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958584" y="3447288"/>
            <a:ext cx="4041648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MongoDB</a:t>
            </a:r>
            <a:br/>
            <a:r>
              <a:t>Lab reports • Clinical notes</a:t>
            </a:r>
            <a:br/>
            <a:r>
              <a:t>Flexible observations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3246120" y="2194560"/>
            <a:ext cx="4160520" cy="1207008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909560" y="2194560"/>
            <a:ext cx="1005840" cy="1207008"/>
          </a:xfrm>
          <a:prstGeom prst="line">
            <a:avLst/>
          </a:prstGeom>
          <a:ln w="27940">
            <a:solidFill>
              <a:srgbClr val="2D9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4709160" y="4892040"/>
            <a:ext cx="2788920" cy="502920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828032" y="5020056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0919B"/>
                </a:solidFill>
                <a:latin typeface="Aptos"/>
              </a:rPr>
              <a:t>patient_id = canonical identity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709160" y="3977639"/>
            <a:ext cx="777240" cy="914401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6537960" y="3977639"/>
            <a:ext cx="274320" cy="914401"/>
          </a:xfrm>
          <a:prstGeom prst="line">
            <a:avLst/>
          </a:prstGeom>
          <a:ln w="27940">
            <a:solidFill>
              <a:srgbClr val="2D9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85800" y="5669280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B"/>
                </a:solidFill>
                <a:latin typeface="Aptos"/>
              </a:rPr>
              <a:t>DEPLOYMENT &amp; MONITORING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971800" y="5577840"/>
            <a:ext cx="1828800" cy="420624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017520" y="5678424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0F2A43"/>
                </a:solidFill>
                <a:latin typeface="Aptos"/>
              </a:rPr>
              <a:t>Docker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0" y="5577840"/>
            <a:ext cx="1828800" cy="420624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74920" y="5678424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0F2A43"/>
                </a:solidFill>
                <a:latin typeface="Aptos"/>
              </a:rPr>
              <a:t>Kubernetes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086600" y="5577840"/>
            <a:ext cx="1828800" cy="420624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132320" y="5678424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0F2A43"/>
                </a:solidFill>
                <a:latin typeface="Aptos"/>
              </a:rPr>
              <a:t>Prometheus / Grafana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DF85F154-122C-CF1D-8395-5D87B24C2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" y="-2458"/>
            <a:ext cx="12185305" cy="68604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IMPLEMENTATION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371600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B"/>
                </a:solidFill>
                <a:latin typeface="Aptos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6733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HTML / CSS / JavaScript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02996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7484"/>
                </a:solidFill>
                <a:latin typeface="Aptos"/>
              </a:rPr>
              <a:t>Patient and staff interface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34440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371600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B"/>
                </a:solidFill>
                <a:latin typeface="Aptos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FastAPI + 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02996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7484"/>
                </a:solidFill>
                <a:latin typeface="Aptos"/>
              </a:rPr>
              <a:t>REST APIs and service logic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1234440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02751" y="1371600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B"/>
                </a:solidFill>
                <a:latin typeface="Aptos"/>
              </a:rPr>
              <a:t>Relational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1" y="16733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PostgreSQL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1" y="202996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7484"/>
                </a:solidFill>
                <a:latin typeface="Aptos"/>
              </a:rPr>
              <a:t>Structured records and transactions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807208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1" y="2944368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B"/>
                </a:solidFill>
                <a:latin typeface="Aptos"/>
              </a:rPr>
              <a:t>Document 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32461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MongoDB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3602736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7484"/>
                </a:solidFill>
                <a:latin typeface="Aptos"/>
              </a:rPr>
              <a:t>Flexible clinical documents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2807208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53712" y="2944368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B"/>
                </a:solidFill>
                <a:latin typeface="Aptos"/>
              </a:rPr>
              <a:t>ML /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32461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Python + pandas + scikit-learn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3602736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7484"/>
                </a:solidFill>
                <a:latin typeface="Aptos"/>
              </a:rPr>
              <a:t>Preprocessing and CKD classification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59" y="2807208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02751" y="2944368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B"/>
                </a:solidFill>
                <a:latin typeface="Aptos"/>
              </a:rPr>
              <a:t>Security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1" y="32461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JWT / OAuth2 concepts + RBAC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1" y="3602736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7484"/>
                </a:solidFill>
                <a:latin typeface="Aptos"/>
              </a:rPr>
              <a:t>Authentication and access control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379976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4671" y="4517136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B"/>
                </a:solidFill>
                <a:latin typeface="Aptos"/>
              </a:rPr>
              <a:t>Testing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" y="481888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pytest + API 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" y="5175504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7484"/>
                </a:solidFill>
                <a:latin typeface="Aptos"/>
              </a:rPr>
              <a:t>Functional and security validation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0" y="4379976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53712" y="4517136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B"/>
                </a:solidFill>
                <a:latin typeface="Aptos"/>
              </a:rPr>
              <a:t>Deployment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53712" y="481888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Docker + Kubernetes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5175504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7484"/>
                </a:solidFill>
                <a:latin typeface="Aptos"/>
              </a:rPr>
              <a:t>Containerized deployment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59" y="4379976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02751" y="4517136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B"/>
                </a:solidFill>
                <a:latin typeface="Aptos"/>
              </a:rPr>
              <a:t>Monitoring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2751" y="481888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Prometheus + Grafana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2751" y="5175504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7484"/>
                </a:solidFill>
                <a:latin typeface="Aptos"/>
              </a:rPr>
              <a:t>Metrics and observability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Dataset / Input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DATA USED BY THE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530352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49808" y="1325880"/>
            <a:ext cx="182880" cy="182880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1" y="1298448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Public CKD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4800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>
                <a:solidFill>
                  <a:srgbClr val="243746"/>
                </a:solidFill>
                <a:latin typeface="Aptos"/>
              </a:defRPr>
            </a:pPr>
            <a:r>
              <a:t>• UCI Chronic Kidney Disease dataset</a:t>
            </a:r>
          </a:p>
          <a:p>
            <a:pPr>
              <a:spcAft>
                <a:spcPts val="700"/>
              </a:spcAft>
              <a:defRPr sz="1450">
                <a:solidFill>
                  <a:srgbClr val="243746"/>
                </a:solidFill>
                <a:latin typeface="Aptos"/>
              </a:defRPr>
            </a:pPr>
            <a:r>
              <a:t>• 400 instances and 24 input features</a:t>
            </a:r>
          </a:p>
          <a:p>
            <a:pPr>
              <a:spcAft>
                <a:spcPts val="700"/>
              </a:spcAft>
              <a:defRPr sz="1450">
                <a:solidFill>
                  <a:srgbClr val="243746"/>
                </a:solidFill>
                <a:latin typeface="Aptos"/>
              </a:defRPr>
            </a:pPr>
            <a:r>
              <a:t>• Classification target: CKD / not-CKD</a:t>
            </a:r>
          </a:p>
          <a:p>
            <a:pPr>
              <a:spcAft>
                <a:spcPts val="700"/>
              </a:spcAft>
              <a:defRPr sz="1450">
                <a:solidFill>
                  <a:srgbClr val="243746"/>
                </a:solidFill>
                <a:latin typeface="Aptos"/>
              </a:defRPr>
            </a:pPr>
            <a:r>
              <a:t>• Contains missing values that require preprocessing</a:t>
            </a:r>
          </a:p>
          <a:p>
            <a:pPr>
              <a:spcAft>
                <a:spcPts val="700"/>
              </a:spcAft>
              <a:defRPr sz="1450">
                <a:solidFill>
                  <a:srgbClr val="243746"/>
                </a:solidFill>
                <a:latin typeface="Aptos"/>
              </a:defRPr>
            </a:pPr>
            <a:r>
              <a:t>• Features include age, blood pressure, albumin, glucose, urea, creatinine, electrolytes and blood counts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530352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27648" y="1325880"/>
            <a:ext cx="182880" cy="182880"/>
          </a:xfrm>
          <a:prstGeom prst="roundRect">
            <a:avLst/>
          </a:prstGeom>
          <a:solidFill>
            <a:srgbClr val="2D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1112" y="1298448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Operational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7830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>
                <a:solidFill>
                  <a:srgbClr val="243746"/>
                </a:solidFill>
                <a:latin typeface="Aptos"/>
              </a:defRPr>
            </a:pPr>
            <a:r>
              <a:t>• Patient profile and demographic details</a:t>
            </a:r>
          </a:p>
          <a:p>
            <a:pPr>
              <a:spcAft>
                <a:spcPts val="700"/>
              </a:spcAft>
              <a:defRPr sz="1450">
                <a:solidFill>
                  <a:srgbClr val="243746"/>
                </a:solidFill>
                <a:latin typeface="Aptos"/>
              </a:defRPr>
            </a:pPr>
            <a:r>
              <a:t>• Medical test measurements</a:t>
            </a:r>
          </a:p>
          <a:p>
            <a:pPr>
              <a:spcAft>
                <a:spcPts val="700"/>
              </a:spcAft>
              <a:defRPr sz="1450">
                <a:solidFill>
                  <a:srgbClr val="243746"/>
                </a:solidFill>
                <a:latin typeface="Aptos"/>
              </a:defRPr>
            </a:pPr>
            <a:r>
              <a:t>• Doctor and appointment information</a:t>
            </a:r>
          </a:p>
          <a:p>
            <a:pPr>
              <a:spcAft>
                <a:spcPts val="700"/>
              </a:spcAft>
              <a:defRPr sz="1450">
                <a:solidFill>
                  <a:srgbClr val="243746"/>
                </a:solidFill>
                <a:latin typeface="Aptos"/>
              </a:defRPr>
            </a:pPr>
            <a:r>
              <a:t>• Prediction request + prediction history</a:t>
            </a:r>
          </a:p>
          <a:p>
            <a:pPr>
              <a:spcAft>
                <a:spcPts val="700"/>
              </a:spcAft>
              <a:defRPr sz="1450">
                <a:solidFill>
                  <a:srgbClr val="243746"/>
                </a:solidFill>
                <a:latin typeface="Aptos"/>
              </a:defRPr>
            </a:pPr>
            <a:r>
              <a:t>• User role and audit information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663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2A43"/>
                </a:solidFill>
                <a:latin typeface="Aptos"/>
              </a:rPr>
              <a:t>Data preparation: raw records → cleaning → missing-value handling → encoding → validation → model-ready input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Implementation –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PATIENT &amp; DATABASE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73152" cy="68580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490472"/>
            <a:ext cx="1755648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2A43"/>
                </a:solidFill>
                <a:latin typeface="Aptos"/>
              </a:rPr>
              <a:t>Patient Registration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141732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F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63240" y="1417320"/>
            <a:ext cx="73152" cy="68580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27832" y="1490472"/>
            <a:ext cx="1755648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2A43"/>
                </a:solidFill>
                <a:latin typeface="Aptos"/>
              </a:rPr>
              <a:t>Validate Input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1417320"/>
            <a:ext cx="21945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D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94960" y="1417320"/>
            <a:ext cx="73152" cy="685800"/>
          </a:xfrm>
          <a:prstGeom prst="rect">
            <a:avLst/>
          </a:prstGeom>
          <a:solidFill>
            <a:srgbClr val="2D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59552" y="1490472"/>
            <a:ext cx="1938528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2A43"/>
                </a:solidFill>
                <a:latin typeface="Aptos"/>
              </a:rPr>
              <a:t>Store in PostgreSQL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1417320"/>
            <a:ext cx="21945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7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09560" y="1417320"/>
            <a:ext cx="73152" cy="685800"/>
          </a:xfrm>
          <a:prstGeom prst="rect">
            <a:avLst/>
          </a:prstGeom>
          <a:solidFill>
            <a:srgbClr val="E7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74152" y="1490472"/>
            <a:ext cx="1938528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2A43"/>
                </a:solidFill>
                <a:latin typeface="Aptos"/>
              </a:rPr>
              <a:t>Retrieve / Update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43200" y="1764792"/>
            <a:ext cx="320040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74920" y="1764792"/>
            <a:ext cx="320039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589520" y="1764792"/>
            <a:ext cx="320040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31520" y="2743200"/>
            <a:ext cx="507492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41248" y="2834640"/>
            <a:ext cx="182880" cy="182880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24712" y="280720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Database engineering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246120"/>
            <a:ext cx="46177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Patient, doctor, appointment, test and prediction entities</a:t>
            </a:r>
          </a:p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Primary and foreign keys maintain relationships</a:t>
            </a:r>
          </a:p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NOT NULL, UNIQUE and CHECK constraints protect data quality</a:t>
            </a:r>
          </a:p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Indexes support frequent patient and appointment lookups</a:t>
            </a:r>
          </a:p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Transactions keep related updates consistent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743200"/>
            <a:ext cx="507492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236208" y="2834640"/>
            <a:ext cx="182880" cy="182880"/>
          </a:xfrm>
          <a:prstGeom prst="roundRect">
            <a:avLst/>
          </a:prstGeom>
          <a:solidFill>
            <a:srgbClr val="2D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19672" y="280720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337560"/>
            <a:ext cx="45262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2A43"/>
                </a:solidFill>
                <a:latin typeface="Aptos"/>
              </a:rPr>
              <a:t>A consistent patient record becomes the central identity used across clinical workflows.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663440"/>
            <a:ext cx="1143000" cy="310896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55664" y="4690872"/>
            <a:ext cx="1033271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19B"/>
                </a:solidFill>
                <a:latin typeface="Aptos"/>
              </a:rPr>
              <a:t>PATIENT ID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26679" y="4663440"/>
            <a:ext cx="1280160" cy="310896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81544" y="4690872"/>
            <a:ext cx="1170431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19B"/>
                </a:solidFill>
                <a:latin typeface="Aptos"/>
              </a:rPr>
              <a:t>RELATIONSHIPS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20" y="4663440"/>
            <a:ext cx="1051560" cy="310896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44584" y="4690872"/>
            <a:ext cx="941831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19B"/>
                </a:solidFill>
                <a:latin typeface="Aptos"/>
              </a:rPr>
              <a:t>AUDITABLE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Implementation –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CKD PREDICTION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73152" cy="68580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490472"/>
            <a:ext cx="1435608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Clinical Input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77440" y="1764792"/>
            <a:ext cx="365760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0" y="141732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F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0" y="1417320"/>
            <a:ext cx="73152" cy="68580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07792" y="1490472"/>
            <a:ext cx="1435608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Preprocess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34840" y="1764792"/>
            <a:ext cx="365760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800600" y="141732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800600" y="1417320"/>
            <a:ext cx="73152" cy="68580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65192" y="1490472"/>
            <a:ext cx="1435608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Feature Vector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92240" y="1764792"/>
            <a:ext cx="365760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58000" y="141732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D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0" y="1417320"/>
            <a:ext cx="73152" cy="685800"/>
          </a:xfrm>
          <a:prstGeom prst="rect">
            <a:avLst/>
          </a:prstGeom>
          <a:solidFill>
            <a:srgbClr val="2D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22592" y="1490472"/>
            <a:ext cx="1435608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Classifier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49640" y="1764792"/>
            <a:ext cx="365760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15400" y="141732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7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15400" y="1417320"/>
            <a:ext cx="73152" cy="685800"/>
          </a:xfrm>
          <a:prstGeom prst="rect">
            <a:avLst/>
          </a:prstGeom>
          <a:solidFill>
            <a:srgbClr val="E7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79992" y="1490472"/>
            <a:ext cx="1435608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CKD Result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2743200"/>
            <a:ext cx="512064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41248" y="2834640"/>
            <a:ext cx="182880" cy="182880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24712" y="2807208"/>
            <a:ext cx="461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Prediction steps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246120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Accept required clinical features from the patient/test record.</a:t>
            </a:r>
          </a:p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Clean and encode the values using the same preprocessing logic used during training.</a:t>
            </a:r>
          </a:p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Generate the model input and obtain the predicted CKD class.</a:t>
            </a:r>
          </a:p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Store the prediction with patient ID and timestamp.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2743200"/>
            <a:ext cx="512064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281928" y="2834640"/>
            <a:ext cx="182880" cy="182880"/>
          </a:xfrm>
          <a:prstGeom prst="roundRect">
            <a:avLst/>
          </a:prstGeom>
          <a:solidFill>
            <a:srgbClr val="E7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65392" y="2807208"/>
            <a:ext cx="461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Design principle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337560"/>
            <a:ext cx="45262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A43"/>
                </a:solidFill>
                <a:latin typeface="Aptos"/>
              </a:rPr>
              <a:t>Prediction is a decision-support component—not a replacement for clinical diagnosis.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617720"/>
            <a:ext cx="4526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7484"/>
                </a:solidFill>
                <a:latin typeface="Aptos"/>
              </a:rPr>
              <a:t>The system should present the result together with the underlying patient/test context.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Implementation –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APPOINTMENTS, APIS &amp;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73152" cy="68580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490472"/>
            <a:ext cx="1435608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2A43"/>
                </a:solidFill>
                <a:latin typeface="Aptos"/>
              </a:rPr>
              <a:t>Client Request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41732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F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0" y="1417320"/>
            <a:ext cx="73152" cy="68580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07792" y="1490472"/>
            <a:ext cx="1435608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2A43"/>
                </a:solidFill>
                <a:latin typeface="Aptos"/>
              </a:rPr>
              <a:t>Authenticate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141732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F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800600" y="1417320"/>
            <a:ext cx="73152" cy="68580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65192" y="1490472"/>
            <a:ext cx="1435608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2A43"/>
                </a:solidFill>
                <a:latin typeface="Aptos"/>
              </a:rPr>
              <a:t>Authorize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141732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D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0" y="1417320"/>
            <a:ext cx="73152" cy="685800"/>
          </a:xfrm>
          <a:prstGeom prst="rect">
            <a:avLst/>
          </a:prstGeom>
          <a:solidFill>
            <a:srgbClr val="2D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22592" y="1490472"/>
            <a:ext cx="1435608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2A43"/>
                </a:solidFill>
                <a:latin typeface="Aptos"/>
              </a:rPr>
              <a:t>Validate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1417320"/>
            <a:ext cx="1874519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7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15400" y="1417320"/>
            <a:ext cx="73152" cy="685800"/>
          </a:xfrm>
          <a:prstGeom prst="rect">
            <a:avLst/>
          </a:prstGeom>
          <a:solidFill>
            <a:srgbClr val="E7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79992" y="1490472"/>
            <a:ext cx="1618487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2A43"/>
                </a:solidFill>
                <a:latin typeface="Aptos"/>
              </a:rPr>
              <a:t>Service + DB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77440" y="1764792"/>
            <a:ext cx="365760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434840" y="1764792"/>
            <a:ext cx="365760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492240" y="1764792"/>
            <a:ext cx="365760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549640" y="1764792"/>
            <a:ext cx="365760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1520" y="2743200"/>
            <a:ext cx="507492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41248" y="2834640"/>
            <a:ext cx="182880" cy="182880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24712" y="280720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API capabilities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246120"/>
            <a:ext cx="46177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Patient CRUD operations</a:t>
            </a:r>
          </a:p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Medical test and prediction endpoints</a:t>
            </a:r>
          </a:p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Appointment creation and retrieval</a:t>
            </a:r>
          </a:p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Pydantic request validation</a:t>
            </a:r>
          </a:p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OpenAPI documentation and centralized error handling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2743200"/>
            <a:ext cx="507492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236208" y="2834640"/>
            <a:ext cx="182880" cy="182880"/>
          </a:xfrm>
          <a:prstGeom prst="round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19672" y="280720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Security controls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246120"/>
            <a:ext cx="45720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JWT / OAuth2-style authentication</a:t>
            </a:r>
          </a:p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Role-based access for admin, doctor, staff and patient</a:t>
            </a:r>
          </a:p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Password hashing</a:t>
            </a:r>
          </a:p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Rate limiting and audit events</a:t>
            </a:r>
          </a:p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Secure separation of client, service and database layers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HOW THE PROTOTYPE IS EVALUATED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380744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919B"/>
                </a:solidFill>
                <a:latin typeface="Aptos"/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353312"/>
            <a:ext cx="3337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3746"/>
                </a:solidFill>
                <a:latin typeface="Aptos"/>
              </a:rPr>
              <a:t>UCI CKD dataset; 400 records; 24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380744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919B"/>
                </a:solidFill>
                <a:latin typeface="Aptos"/>
              </a:rPr>
              <a:t>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1353312"/>
            <a:ext cx="3337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3746"/>
                </a:solidFill>
                <a:latin typeface="Aptos"/>
              </a:rPr>
              <a:t>Missing values, categorical encoding, validation and feature preparation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4320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889504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919B"/>
                </a:solidFill>
                <a:latin typeface="Aptos"/>
              </a:rPr>
              <a:t>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862072"/>
            <a:ext cx="3337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3746"/>
                </a:solidFill>
                <a:latin typeface="Aptos"/>
              </a:rPr>
              <a:t>Train / validation / test separation to avoid leakage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74320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2889504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919B"/>
                </a:solidFill>
                <a:latin typeface="Aptos"/>
              </a:rPr>
              <a:t>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2862072"/>
            <a:ext cx="3337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3746"/>
                </a:solidFill>
                <a:latin typeface="Aptos"/>
              </a:rPr>
              <a:t>FastAPI with PostgreSQL + MongoDB integration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5196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398264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919B"/>
                </a:solidFill>
                <a:latin typeface="Aptos"/>
              </a:rPr>
              <a:t>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370832"/>
            <a:ext cx="3337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3746"/>
                </a:solidFill>
                <a:latin typeface="Aptos"/>
              </a:rPr>
              <a:t>API, validation, authentication and database operation tests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25196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4398264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919B"/>
                </a:solidFill>
                <a:latin typeface="Aptos"/>
              </a:rPr>
              <a:t>Environment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4370832"/>
            <a:ext cx="3337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3746"/>
                </a:solidFill>
                <a:latin typeface="Aptos"/>
              </a:rPr>
              <a:t>Python development environment; containerization prepared for deployment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PROTOTYPE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106070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1417320"/>
            <a:ext cx="411480" cy="310896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1444752"/>
            <a:ext cx="30175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19B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362456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2A43"/>
                </a:solidFill>
                <a:latin typeface="Aptos"/>
              </a:rPr>
              <a:t>Database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353312"/>
            <a:ext cx="7223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3746"/>
                </a:solidFill>
                <a:latin typeface="Aptos"/>
              </a:rPr>
              <a:t>Patient, doctor, test, appointment and prediction entities mapped to a relational design.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194560"/>
            <a:ext cx="106070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" y="2377440"/>
            <a:ext cx="411480" cy="310896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9264" y="2404872"/>
            <a:ext cx="30175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19B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322576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2A43"/>
                </a:solidFill>
                <a:latin typeface="Aptos"/>
              </a:rPr>
              <a:t>Hybrid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313432"/>
            <a:ext cx="7223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3746"/>
                </a:solidFill>
                <a:latin typeface="Aptos"/>
              </a:rPr>
              <a:t>PostgreSQL handles structured records; MongoDB supports flexible clinical documents.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154680"/>
            <a:ext cx="106070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14400" y="3337560"/>
            <a:ext cx="411480" cy="310896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9264" y="3364992"/>
            <a:ext cx="30175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19B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282696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2A43"/>
                </a:solidFill>
                <a:latin typeface="Aptos"/>
              </a:rPr>
              <a:t>Prediction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273552"/>
            <a:ext cx="7223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3746"/>
                </a:solidFill>
                <a:latin typeface="Aptos"/>
              </a:rPr>
              <a:t>Clinical inputs can move through preprocessing to a CKD classification result.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14800"/>
            <a:ext cx="106070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14400" y="4297680"/>
            <a:ext cx="411480" cy="310896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9264" y="4325112"/>
            <a:ext cx="30175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19B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242816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2A43"/>
                </a:solidFill>
                <a:latin typeface="Aptos"/>
              </a:rPr>
              <a:t>API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233672"/>
            <a:ext cx="7223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3746"/>
                </a:solidFill>
                <a:latin typeface="Aptos"/>
              </a:rPr>
              <a:t>FastAPI provides validated service endpoints and a clear security flow.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074920"/>
            <a:ext cx="106070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14400" y="5257800"/>
            <a:ext cx="411480" cy="310896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9264" y="5285232"/>
            <a:ext cx="30175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19B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202936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2A43"/>
                </a:solidFill>
                <a:latin typeface="Aptos"/>
              </a:rPr>
              <a:t>Workflow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193792"/>
            <a:ext cx="7223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3746"/>
                </a:solidFill>
                <a:latin typeface="Aptos"/>
              </a:rPr>
              <a:t>Registration → test → prediction → appointment → analytics/reporting is represented as one process.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Performance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METRICS TO VALIDATE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49047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919B"/>
                </a:solidFill>
                <a:latin typeface="Aptos"/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892807"/>
            <a:ext cx="21762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F7484"/>
                </a:solidFill>
                <a:latin typeface="Aptos"/>
              </a:rPr>
              <a:t>Correct CKD classifications / total predictions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32588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79" y="149047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919B"/>
                </a:solidFill>
                <a:latin typeface="Aptos"/>
              </a:rPr>
              <a:t>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892807"/>
            <a:ext cx="21762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F7484"/>
                </a:solidFill>
                <a:latin typeface="Aptos"/>
              </a:rPr>
              <a:t>Reliability of positive CKD predictions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2588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49047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919B"/>
                </a:solidFill>
                <a:latin typeface="Aptos"/>
              </a:rPr>
              <a:t>Recall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1892807"/>
            <a:ext cx="21762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F7484"/>
                </a:solidFill>
                <a:latin typeface="Aptos"/>
              </a:rPr>
              <a:t>Ability to identify CKD cases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132588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89719" y="149047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919B"/>
                </a:solidFill>
                <a:latin typeface="Aptos"/>
              </a:rPr>
              <a:t>F1-score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1" y="1892807"/>
            <a:ext cx="21762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F7484"/>
                </a:solidFill>
                <a:latin typeface="Aptos"/>
              </a:rPr>
              <a:t>Balance of precision and recall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20040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36499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919B"/>
                </a:solidFill>
                <a:latin typeface="Aptos"/>
              </a:rPr>
              <a:t>AUC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3767328"/>
            <a:ext cx="21762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F7484"/>
                </a:solidFill>
                <a:latin typeface="Aptos"/>
              </a:rPr>
              <a:t>Discrimination across classification thresholds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0" y="320040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11879" y="336499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919B"/>
                </a:solidFill>
                <a:latin typeface="Aptos"/>
              </a:rPr>
              <a:t>API latency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9312" y="3767328"/>
            <a:ext cx="21762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F7484"/>
                </a:solidFill>
                <a:latin typeface="Aptos"/>
              </a:rPr>
              <a:t>Time required for secure request processing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20040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336499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919B"/>
                </a:solidFill>
                <a:latin typeface="Aptos"/>
              </a:rPr>
              <a:t>DB latency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1" y="3767328"/>
            <a:ext cx="21762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F7484"/>
                </a:solidFill>
                <a:latin typeface="Aptos"/>
              </a:rPr>
              <a:t>Time for key patient / appointment queries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59" y="320040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89719" y="336499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919B"/>
                </a:solidFill>
                <a:latin typeface="Aptos"/>
              </a:rPr>
              <a:t>Throughput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7151" y="3767328"/>
            <a:ext cx="21762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F7484"/>
                </a:solidFill>
                <a:latin typeface="Aptos"/>
              </a:rPr>
              <a:t>Requests handled during load testing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486400"/>
            <a:ext cx="10469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E78F30"/>
                </a:solidFill>
                <a:latin typeface="Aptos"/>
              </a:rPr>
              <a:t>Important: the current project material does not provide measured accuracy, latency or throughput values; these should be filled after final experiments.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Screenshots / Working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PROTOTYPE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324612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48132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2A43"/>
                </a:solidFill>
                <a:latin typeface="Aptos"/>
              </a:rPr>
              <a:t>PATIENT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965960"/>
            <a:ext cx="269748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60120" y="1965960"/>
            <a:ext cx="73152" cy="47548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2039112"/>
            <a:ext cx="244144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0F2A43"/>
                </a:solidFill>
                <a:latin typeface="Aptos"/>
              </a:rPr>
              <a:t>Patient profile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2651760"/>
            <a:ext cx="269748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D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60120" y="2651760"/>
            <a:ext cx="73152" cy="475488"/>
          </a:xfrm>
          <a:prstGeom prst="rect">
            <a:avLst/>
          </a:prstGeom>
          <a:solidFill>
            <a:srgbClr val="2D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24712" y="2724912"/>
            <a:ext cx="244144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0F2A43"/>
                </a:solidFill>
                <a:latin typeface="Aptos"/>
              </a:rPr>
              <a:t>Lab test entry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337560"/>
            <a:ext cx="269748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7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60120" y="3337560"/>
            <a:ext cx="73152" cy="475488"/>
          </a:xfrm>
          <a:prstGeom prst="rect">
            <a:avLst/>
          </a:prstGeom>
          <a:solidFill>
            <a:srgbClr val="E7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24712" y="3410712"/>
            <a:ext cx="244144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0F2A43"/>
                </a:solidFill>
                <a:latin typeface="Aptos"/>
              </a:rPr>
              <a:t>CKD prediction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4023360"/>
            <a:ext cx="269748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F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60120" y="4023360"/>
            <a:ext cx="73152" cy="47548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24712" y="4096512"/>
            <a:ext cx="244144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0F2A43"/>
                </a:solidFill>
                <a:latin typeface="Aptos"/>
              </a:rPr>
              <a:t>Appointment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983480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F7484"/>
                </a:solidFill>
                <a:latin typeface="Aptos"/>
              </a:rPr>
              <a:t>Prototype screen structure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1234440"/>
            <a:ext cx="324612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0" y="148132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2A43"/>
                </a:solidFill>
                <a:latin typeface="Aptos"/>
              </a:rPr>
              <a:t>CKD PREDICTION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2011680"/>
            <a:ext cx="685800" cy="310896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26864" y="2039112"/>
            <a:ext cx="57607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19B"/>
                </a:solidFill>
                <a:latin typeface="Aptos"/>
              </a:rPr>
              <a:t>INPUT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94960" y="2011680"/>
            <a:ext cx="960120" cy="310896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49824" y="2039112"/>
            <a:ext cx="85039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19B"/>
                </a:solidFill>
                <a:latin typeface="Aptos"/>
              </a:rPr>
              <a:t>PREPROCESS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2011680"/>
            <a:ext cx="685800" cy="310896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 w="10160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47103" y="2039112"/>
            <a:ext cx="57607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F2A43"/>
                </a:solidFill>
                <a:latin typeface="Aptos"/>
              </a:rPr>
              <a:t>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2743200"/>
            <a:ext cx="2514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F7484"/>
                </a:solidFill>
                <a:latin typeface="Aptos"/>
              </a:rPr>
              <a:t>Clinical features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760720" y="3063240"/>
            <a:ext cx="0" cy="685799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892040" y="379476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FFEFDB"/>
          </a:solidFill>
          <a:ln w="10160">
            <a:solidFill>
              <a:srgbClr val="E7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74920" y="3986784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E78F30"/>
                </a:solidFill>
                <a:latin typeface="Aptos"/>
              </a:rPr>
              <a:t>CKD RESULT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35240" y="1234440"/>
            <a:ext cx="388620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09560" y="1481328"/>
            <a:ext cx="3337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2A43"/>
                </a:solidFill>
                <a:latin typeface="Aptos"/>
              </a:rPr>
              <a:t>WORKING FLOW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1965960"/>
            <a:ext cx="26974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229600" y="1965960"/>
            <a:ext cx="73152" cy="45720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94192" y="2039112"/>
            <a:ext cx="24414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0F2A43"/>
                </a:solidFill>
                <a:latin typeface="Aptos"/>
              </a:rPr>
              <a:t>Register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573768" y="2423160"/>
            <a:ext cx="0" cy="164592"/>
          </a:xfrm>
          <a:prstGeom prst="line">
            <a:avLst/>
          </a:prstGeom>
          <a:ln w="17780">
            <a:solidFill>
              <a:srgbClr val="5F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229600" y="2587752"/>
            <a:ext cx="26974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D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229600" y="2587752"/>
            <a:ext cx="73152" cy="457200"/>
          </a:xfrm>
          <a:prstGeom prst="rect">
            <a:avLst/>
          </a:prstGeom>
          <a:solidFill>
            <a:srgbClr val="2D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94192" y="2660904"/>
            <a:ext cx="24414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0F2A43"/>
                </a:solidFill>
                <a:latin typeface="Aptos"/>
              </a:rPr>
              <a:t>Record test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573768" y="3044952"/>
            <a:ext cx="0" cy="164592"/>
          </a:xfrm>
          <a:prstGeom prst="line">
            <a:avLst/>
          </a:prstGeom>
          <a:ln w="17780">
            <a:solidFill>
              <a:srgbClr val="5F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229600" y="3209544"/>
            <a:ext cx="26974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7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229600" y="3209544"/>
            <a:ext cx="73152" cy="457200"/>
          </a:xfrm>
          <a:prstGeom prst="rect">
            <a:avLst/>
          </a:prstGeom>
          <a:solidFill>
            <a:srgbClr val="E7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94192" y="3282696"/>
            <a:ext cx="24414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0F2A43"/>
                </a:solidFill>
                <a:latin typeface="Aptos"/>
              </a:rPr>
              <a:t>Predict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573768" y="3666744"/>
            <a:ext cx="0" cy="164591"/>
          </a:xfrm>
          <a:prstGeom prst="line">
            <a:avLst/>
          </a:prstGeom>
          <a:ln w="17780">
            <a:solidFill>
              <a:srgbClr val="5F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229600" y="3831335"/>
            <a:ext cx="26974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F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229600" y="3831335"/>
            <a:ext cx="73152" cy="45720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394192" y="3904487"/>
            <a:ext cx="24414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0F2A43"/>
                </a:solidFill>
                <a:latin typeface="Aptos"/>
              </a:rPr>
              <a:t>Book appointment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573768" y="4288536"/>
            <a:ext cx="0" cy="164591"/>
          </a:xfrm>
          <a:prstGeom prst="line">
            <a:avLst/>
          </a:prstGeom>
          <a:ln w="17780">
            <a:solidFill>
              <a:srgbClr val="5F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8229600" y="4453128"/>
            <a:ext cx="26974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229600" y="4453128"/>
            <a:ext cx="73152" cy="45720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394192" y="4526280"/>
            <a:ext cx="24414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0F2A43"/>
                </a:solidFill>
                <a:latin typeface="Aptos"/>
              </a:rPr>
              <a:t>View report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01000" y="498348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F7484"/>
                </a:solidFill>
                <a:latin typeface="Aptos"/>
              </a:rPr>
              <a:t>Use actual implementation screenshots here when available.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Comparison with 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WHY THE PROPOSED SYSTEM IS STRONGER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2834640" cy="502920"/>
          </a:xfrm>
          <a:prstGeom prst="roundRect">
            <a:avLst>
              <a:gd name="adj" fmla="val 8000"/>
            </a:avLst>
          </a:prstGeom>
          <a:solidFill>
            <a:srgbClr val="0F2A43"/>
          </a:solidFill>
          <a:ln w="10160">
            <a:solidFill>
              <a:srgbClr val="0F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19" y="1353312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Capability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234440"/>
            <a:ext cx="3383280" cy="502920"/>
          </a:xfrm>
          <a:prstGeom prst="roundRect">
            <a:avLst>
              <a:gd name="adj" fmla="val 8000"/>
            </a:avLst>
          </a:prstGeom>
          <a:solidFill>
            <a:srgbClr val="0F2A43"/>
          </a:solidFill>
          <a:ln w="10160">
            <a:solidFill>
              <a:srgbClr val="0F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39" y="1353312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Manual / isolated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234440"/>
            <a:ext cx="4160520" cy="502920"/>
          </a:xfrm>
          <a:prstGeom prst="roundRect">
            <a:avLst>
              <a:gd name="adj" fmla="val 8000"/>
            </a:avLst>
          </a:prstGeom>
          <a:solidFill>
            <a:srgbClr val="0F2A43"/>
          </a:solidFill>
          <a:ln w="10160">
            <a:solidFill>
              <a:srgbClr val="0F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1353312"/>
            <a:ext cx="39776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Proposed CKD 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783080"/>
            <a:ext cx="28346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83664"/>
            <a:ext cx="261518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243746"/>
                </a:solidFill>
                <a:latin typeface="Aptos"/>
              </a:rPr>
              <a:t>Patient records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1783080"/>
            <a:ext cx="33832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67328" y="1883664"/>
            <a:ext cx="31638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243746"/>
                </a:solidFill>
                <a:latin typeface="Aptos"/>
              </a:rPr>
              <a:t>Separate files / repeated entry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783080"/>
            <a:ext cx="41605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24927" y="1883664"/>
            <a:ext cx="394106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0F2A43"/>
                </a:solidFill>
                <a:latin typeface="Aptos"/>
              </a:rPr>
              <a:t>Centralized PostgreSQL records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395728"/>
            <a:ext cx="28346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" y="2496312"/>
            <a:ext cx="261518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243746"/>
                </a:solidFill>
                <a:latin typeface="Aptos"/>
              </a:rPr>
              <a:t>Clinical documents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2395728"/>
            <a:ext cx="33832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67328" y="2496312"/>
            <a:ext cx="31638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243746"/>
                </a:solidFill>
                <a:latin typeface="Aptos"/>
              </a:rPr>
              <a:t>Fixed or scattered storage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2395728"/>
            <a:ext cx="41605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24927" y="2496312"/>
            <a:ext cx="394106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0F2A43"/>
                </a:solidFill>
                <a:latin typeface="Aptos"/>
              </a:rPr>
              <a:t>MongoDB supports flexible documents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008376"/>
            <a:ext cx="28346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" y="3108960"/>
            <a:ext cx="261518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243746"/>
                </a:solidFill>
                <a:latin typeface="Aptos"/>
              </a:rPr>
              <a:t>CKD prediction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0" y="3008376"/>
            <a:ext cx="33832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67328" y="3108960"/>
            <a:ext cx="31638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243746"/>
                </a:solidFill>
                <a:latin typeface="Aptos"/>
              </a:rPr>
              <a:t>Separate analysis step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3008376"/>
            <a:ext cx="41605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24927" y="3108960"/>
            <a:ext cx="394106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0F2A43"/>
                </a:solidFill>
                <a:latin typeface="Aptos"/>
              </a:rPr>
              <a:t>Integrated prediction workflow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3621024"/>
            <a:ext cx="28346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9808" y="3721608"/>
            <a:ext cx="261518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243746"/>
                </a:solidFill>
                <a:latin typeface="Aptos"/>
              </a:rPr>
              <a:t>Appointments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0" y="3621024"/>
            <a:ext cx="33832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767328" y="3721608"/>
            <a:ext cx="31638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243746"/>
                </a:solidFill>
                <a:latin typeface="Aptos"/>
              </a:rPr>
              <a:t>Independent scheduling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3621024"/>
            <a:ext cx="41605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24927" y="3721608"/>
            <a:ext cx="394106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0F2A43"/>
                </a:solidFill>
                <a:latin typeface="Aptos"/>
              </a:rPr>
              <a:t>Linked to patient and doctor records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233672"/>
            <a:ext cx="28346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9808" y="4334256"/>
            <a:ext cx="261518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243746"/>
                </a:solidFill>
                <a:latin typeface="Aptos"/>
              </a:rPr>
              <a:t>Access control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0" y="4233672"/>
            <a:ext cx="33832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767328" y="4334256"/>
            <a:ext cx="31638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243746"/>
                </a:solidFill>
                <a:latin typeface="Aptos"/>
              </a:rPr>
              <a:t>Basic / inconsistent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0" y="4233672"/>
            <a:ext cx="41605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24927" y="4334256"/>
            <a:ext cx="394106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0F2A43"/>
                </a:solidFill>
                <a:latin typeface="Aptos"/>
              </a:rPr>
              <a:t>Authentication + RBAC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4846320"/>
            <a:ext cx="28346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49808" y="4946904"/>
            <a:ext cx="261518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243746"/>
                </a:solidFill>
                <a:latin typeface="Aptos"/>
              </a:rPr>
              <a:t>Scalability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0" y="4846320"/>
            <a:ext cx="33832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767328" y="4946904"/>
            <a:ext cx="31638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243746"/>
                </a:solidFill>
                <a:latin typeface="Aptos"/>
              </a:rPr>
              <a:t>Limited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0" y="4846320"/>
            <a:ext cx="41605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424927" y="4946904"/>
            <a:ext cx="394106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0F2A43"/>
                </a:solidFill>
                <a:latin typeface="Aptos"/>
              </a:rPr>
              <a:t>API + container-ready architecture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" y="5458968"/>
            <a:ext cx="28346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49808" y="5559552"/>
            <a:ext cx="261518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243746"/>
                </a:solidFill>
                <a:latin typeface="Aptos"/>
              </a:rPr>
              <a:t>Monitoring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657600" y="5458968"/>
            <a:ext cx="33832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767328" y="5559552"/>
            <a:ext cx="31638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243746"/>
                </a:solidFill>
                <a:latin typeface="Aptos"/>
              </a:rPr>
              <a:t>Minimal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0" y="5458968"/>
            <a:ext cx="41605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424927" y="5559552"/>
            <a:ext cx="394106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0F2A43"/>
                </a:solidFill>
                <a:latin typeface="Aptos"/>
              </a:rPr>
              <a:t>Prometheus / Grafana ready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IMPLEMENTATION CONSIDERATIONS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109270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289304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2A43"/>
                </a:solidFill>
                <a:latin typeface="Aptos"/>
              </a:rPr>
              <a:t>Missing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252728"/>
            <a:ext cx="5394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3746"/>
                </a:solidFill>
                <a:latin typeface="Aptos"/>
              </a:rPr>
              <a:t>Use documented imputation and validation before prediction.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1252728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00919B"/>
                </a:solidFill>
                <a:latin typeface="Aptos"/>
              </a:rPr>
              <a:t>→ Cleaner model input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901952"/>
            <a:ext cx="109270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048256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2A43"/>
                </a:solidFill>
                <a:latin typeface="Aptos"/>
              </a:rPr>
              <a:t>Mixed data types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011680"/>
            <a:ext cx="5394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3746"/>
                </a:solidFill>
                <a:latin typeface="Aptos"/>
              </a:rPr>
              <a:t>Normalize categorical and numeric representations.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011680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00919B"/>
                </a:solidFill>
                <a:latin typeface="Aptos"/>
              </a:rPr>
              <a:t>→ Consistent features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60904"/>
            <a:ext cx="109270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280720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2A43"/>
                </a:solidFill>
                <a:latin typeface="Aptos"/>
              </a:rPr>
              <a:t>Dual databases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2770632"/>
            <a:ext cx="5394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3746"/>
                </a:solidFill>
                <a:latin typeface="Aptos"/>
              </a:rPr>
              <a:t>Use patient_id as the canonical identity.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770632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00919B"/>
                </a:solidFill>
                <a:latin typeface="Aptos"/>
              </a:rPr>
              <a:t>→ Reliable linkage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419856"/>
            <a:ext cx="109270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56616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2A43"/>
                </a:solidFill>
                <a:latin typeface="Aptos"/>
              </a:rPr>
              <a:t>Sensitive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3529584"/>
            <a:ext cx="5394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3746"/>
                </a:solidFill>
                <a:latin typeface="Aptos"/>
              </a:rPr>
              <a:t>RBAC, authentication, hashing and audit logging.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529584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00919B"/>
                </a:solidFill>
                <a:latin typeface="Aptos"/>
              </a:rPr>
              <a:t>→ Controlled access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178808"/>
            <a:ext cx="109270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325112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2A43"/>
                </a:solidFill>
                <a:latin typeface="Aptos"/>
              </a:rPr>
              <a:t>Model reliability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288536"/>
            <a:ext cx="5394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3746"/>
                </a:solidFill>
                <a:latin typeface="Aptos"/>
              </a:rPr>
              <a:t>Use held-out evaluation and external validation later.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288536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00919B"/>
                </a:solidFill>
                <a:latin typeface="Aptos"/>
              </a:rPr>
              <a:t>→ Safer deployment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937759"/>
            <a:ext cx="109270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084064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2A43"/>
                </a:solidFill>
                <a:latin typeface="Aptos"/>
              </a:rPr>
              <a:t>Scaling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5047488"/>
            <a:ext cx="5394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3746"/>
                </a:solidFill>
                <a:latin typeface="Aptos"/>
              </a:rPr>
              <a:t>Separate services and containerize components.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5047488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00919B"/>
                </a:solidFill>
                <a:latin typeface="Aptos"/>
              </a:rPr>
              <a:t>→ Deployment readiness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NEXT DEVELOPMENT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1056132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1325880"/>
            <a:ext cx="182880" cy="182880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129844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81051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919B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792224"/>
            <a:ext cx="4434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3746"/>
                </a:solidFill>
                <a:latin typeface="Aptos"/>
              </a:rPr>
              <a:t>Use larger and more diverse clinical datasets.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81051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919B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792224"/>
            <a:ext cx="4434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3746"/>
                </a:solidFill>
                <a:latin typeface="Aptos"/>
              </a:rPr>
              <a:t>Add stage-specific CKD risk prediction and longitudinal patient history.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7706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919B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752344"/>
            <a:ext cx="4434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3746"/>
                </a:solidFill>
                <a:latin typeface="Aptos"/>
              </a:rPr>
              <a:t>Add explainable AI so clinicians can understand important features behind a prediction.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7706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919B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52344"/>
            <a:ext cx="4434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3746"/>
                </a:solidFill>
                <a:latin typeface="Aptos"/>
              </a:rPr>
              <a:t>Perform external validation and prospective clinical evaluation before real-world use.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73075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919B"/>
                </a:solidFill>
                <a:latin typeface="Apto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712464"/>
            <a:ext cx="4434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3746"/>
                </a:solidFill>
                <a:latin typeface="Aptos"/>
              </a:rPr>
              <a:t>Strengthen privacy with encryption, key management and detailed audit trails.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73075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919B"/>
                </a:solidFill>
                <a:latin typeface="Aptos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712464"/>
            <a:ext cx="4434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3746"/>
                </a:solidFill>
                <a:latin typeface="Aptos"/>
              </a:rPr>
              <a:t>Deploy services with Kubernetes, CI/CD and production monitoring.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69087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919B"/>
                </a:solidFill>
                <a:latin typeface="Aptos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672584"/>
            <a:ext cx="4434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3746"/>
                </a:solidFill>
                <a:latin typeface="Aptos"/>
              </a:rPr>
              <a:t>Add patient notifications, doctor dashboards and analytics.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PROJECT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0F2A43"/>
                </a:solidFill>
                <a:latin typeface="Aptos"/>
              </a:rPr>
              <a:t>A unified CKD healthcare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74519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F7484"/>
                </a:solidFill>
                <a:latin typeface="Aptos"/>
              </a:rPr>
              <a:t>The project combines database engineering, CKD prediction and secure backend development into one connected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25146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9718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919B"/>
                </a:solidFill>
                <a:latin typeface="Aptos"/>
              </a:rPr>
              <a:t>Reliable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52044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F7484"/>
                </a:solidFill>
                <a:latin typeface="Aptos"/>
              </a:rPr>
              <a:t>PostgreSQL + constraints + transactions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39" y="2743200"/>
            <a:ext cx="25146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30168" y="29718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D9167"/>
                </a:solidFill>
                <a:latin typeface="Aptos"/>
              </a:rPr>
              <a:t>Flexible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1" y="352044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F7484"/>
                </a:solidFill>
                <a:latin typeface="Aptos"/>
              </a:rPr>
              <a:t>MongoDB + common patient identity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743200"/>
            <a:ext cx="25146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8" y="29718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E78F30"/>
                </a:solidFill>
                <a:latin typeface="Aptos"/>
              </a:rPr>
              <a:t>Prediction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1" y="352044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F7484"/>
                </a:solidFill>
                <a:latin typeface="Aptos"/>
              </a:rPr>
              <a:t>Clinical input → CKD classification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743200"/>
            <a:ext cx="25146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08007" y="29718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2A43"/>
                </a:solidFill>
                <a:latin typeface="Aptos"/>
              </a:rPr>
              <a:t>Secure APIs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352044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F7484"/>
                </a:solidFill>
                <a:latin typeface="Aptos"/>
              </a:rPr>
              <a:t>FastAPI + validation + RBAC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9204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B"/>
                </a:solidFill>
                <a:latin typeface="Aptos"/>
              </a:rPr>
              <a:t>FINAL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800600"/>
            <a:ext cx="9372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A43"/>
                </a:solidFill>
                <a:latin typeface="Aptos"/>
              </a:rPr>
              <a:t>Dataset → Clean &amp; Validate → PostgreSQL / MongoDB → FastAPI → CKD Prediction → Secure APIs → Deployment &amp; Monitoring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KEY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1078992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95528" y="1325880"/>
            <a:ext cx="182880" cy="182880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298448"/>
            <a:ext cx="10287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References used for project framing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10512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43746"/>
                </a:solidFill>
                <a:latin typeface="Aptos"/>
              </a:rPr>
              <a:t>1. UCI Machine Learning Repository, “Chronic Kidney Disease” dataset, Dataset 336.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43746"/>
                </a:solidFill>
                <a:latin typeface="Aptos"/>
              </a:rPr>
              <a:t>2. KDIGO, “2024 Clinical Practice Guideline for the Evaluation and Management of Chronic Kidney Disease,” Kidney International, 2024.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36976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43746"/>
                </a:solidFill>
                <a:latin typeface="Aptos"/>
              </a:rPr>
              <a:t>3. Capodici et al., “Predict, diagnose, and treat chronic kidney disease with machine learning: a systematic literature review,” Journal of Nephrology, 2023. DOI: 10.1007/s40620-023-01573-4.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50208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43746"/>
                </a:solidFill>
                <a:latin typeface="Aptos"/>
              </a:rPr>
              <a:t>4. Khalid et al., “Predicting the Progression of Chronic Kidney Disease: A Systematic Review of Artificial Intelligence and Machine Learning Approaches,” Cureus, 2024. DOI: 10.7759/cureus.60145.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6344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43746"/>
                </a:solidFill>
                <a:latin typeface="Aptos"/>
              </a:rPr>
              <a:t>5. Pan &amp; Tong, “Artificial intelligence in predicting chronic kidney disease prognosis: A systematic review and meta-analysis,” Renal Failure, 2024. DOI: 10.1080/0886022X.2024.2435483.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76672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43746"/>
                </a:solidFill>
                <a:latin typeface="Aptos"/>
              </a:rPr>
              <a:t>6. Gogoi et al., “Machine learning approaches for predicting and diagnosing chronic kidney disease: current trends, challenges, solutions, and future directions,” 2024.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2119</Words>
  <Application>Microsoft Office PowerPoint</Application>
  <PresentationFormat>Widescreen</PresentationFormat>
  <Paragraphs>460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J.sohan</dc:creator>
  <cp:keywords/>
  <dc:description>generated using python-pptx</dc:description>
  <cp:lastModifiedBy>sohanjadala@outlook.com</cp:lastModifiedBy>
  <cp:revision>3</cp:revision>
  <dcterms:created xsi:type="dcterms:W3CDTF">2013-01-27T09:14:16Z</dcterms:created>
  <dcterms:modified xsi:type="dcterms:W3CDTF">2026-10-03T08:28:05Z</dcterms:modified>
  <cp:category/>
</cp:coreProperties>
</file>