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nephrology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731520"/>
            <a:ext cx="4846320" cy="27049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73152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CAPSTONE PROJECT EVALUATION  •  REVIEW 4: FINAL EVALUATION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Final Project Defense &amp; Evaluation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Full Demonstration, Empirical Benchmarking, Comparative Analysis, Societal Impact &amp; Conclusion</a:t>
            </a:r>
          </a:p>
          <a:p>
            <a:pPr>
              <a:spcBef>
                <a:spcPts val="800"/>
              </a:spcBef>
              <a:defRPr sz="900">
                <a:solidFill>
                  <a:srgbClr val="475569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600"/>
              </a:spcBef>
              <a:defRPr b="1" sz="1000">
                <a:solidFill>
                  <a:srgbClr val="38BDF8"/>
                </a:solidFill>
              </a:defRPr>
            </a:pPr>
            <a:r>
              <a:t>Team 06 | Project Members: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2520090137 — Jayavarapu Sri Charan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2520080060 — J. Sohan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2520080036 — Adithya Vishnubatala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Course: 25CS1302E — Database Management Systems (DBS) | KL University (KLH Campus)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4: FINAL DEFENSE  •  REVIEW 4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Executive Summary &amp; Capstone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4  —  Slide 2 of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Comprehensive Solution Overview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End-to-End Healthcare Architecture: </a:t>
            </a:r>
            <a:r>
              <a:rPr b="0">
                <a:solidFill>
                  <a:srgbClr val="1E293B"/>
                </a:solidFill>
              </a:rPr>
              <a:t>Successfully integrated a 3NF Relational DBMS with Explainable Gradient Boosted Decision Trees (XGBoost/LightGBM) and a modern 4-tier web application.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Perfect Test Sensitivity (100%): </a:t>
            </a:r>
            <a:r>
              <a:rPr b="0">
                <a:solidFill>
                  <a:srgbClr val="1E293B"/>
                </a:solidFill>
              </a:rPr>
              <a:t>Achieved zero false negatives on held-out test data, ensuring zero missed CKD cases in critical early intervention triage.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Complete Concurrency Integrity: </a:t>
            </a:r>
            <a:r>
              <a:rPr b="0">
                <a:solidFill>
                  <a:srgbClr val="1E293B"/>
                </a:solidFill>
              </a:rPr>
              <a:t>Relational constraints and stored procedures prevent double-booking collisions, enforce audit tracking, and sanitize all transactions.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Medical Decision-Support Standard: </a:t>
            </a:r>
            <a:r>
              <a:rPr b="0">
                <a:solidFill>
                  <a:srgbClr val="1E293B"/>
                </a:solidFill>
              </a:rPr>
              <a:t>Incorporates explicit clinical disclaimers ensuring machine learning outputs assist rather than replace certified physician judgment.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4: FINAL DEFENSE  •  REVIEW 4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Comparison: Conventional Practices vs Our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4  —  Slide 3 of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050">
                <a:solidFill>
                  <a:srgbClr val="1E3A8A"/>
                </a:solidFill>
              </a:defRPr>
            </a:pPr>
            <a:r>
              <a:t>Dimension            |  Conventional / Paper / Spreadsheet Records    |  Our Smart CKD Management Platform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Patient Records      |  Fragmented across paper folders or Excel files; high redundancy |  Centralized 3NF PostgreSQL DBMS; ACID transactions &amp; zero redundancy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Early Risk Detection |  Manual univariate thresholding; misses asymptomatic early stages |  Multivariate XGBoost/LightGBM classifier with 100% sensitivity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Explainability       |  Opaque black-box models or manual intuition   |  Instant SHAP force plots highlighting top physiological drivers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Appointment Scheduling |  Vulnerable to double-booking and schedule collisions |  Atomic double-booking prevention enforced via B-tree unique index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Audit &amp; Compliance   |  No tracking of record modifications or clinical updates |  Automated database triggers capturing immutable audit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4: FINAL DEFENSE  •  REVIEW 4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Empirical Validation: ROC Curve &amp; Confusion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4  —  Slide 4 of 9</a:t>
            </a:r>
          </a:p>
        </p:txBody>
      </p:sp>
      <p:pic>
        <p:nvPicPr>
          <p:cNvPr id="7" name="Picture 6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5212080" cy="4084939"/>
          </a:xfrm>
          <a:prstGeom prst="rect">
            <a:avLst/>
          </a:prstGeom>
        </p:spPr>
      </p:pic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54480"/>
            <a:ext cx="5212080" cy="43952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4: FINAL DEFENSE  •  REVIEW 4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Live Working System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4  —  Slide 5 of 9</a:t>
            </a:r>
          </a:p>
        </p:txBody>
      </p:sp>
      <p:pic>
        <p:nvPicPr>
          <p:cNvPr id="7" name="Picture 6" descr="risk_stratificati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5212080" cy="2576759"/>
          </a:xfrm>
          <a:prstGeom prst="rect">
            <a:avLst/>
          </a:prstGeom>
        </p:spPr>
      </p:pic>
      <p:pic>
        <p:nvPicPr>
          <p:cNvPr id="8" name="Picture 7" descr="admin_analytics_m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54480"/>
            <a:ext cx="5212080" cy="2999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4: FINAL DEFENSE  •  REVIEW 4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Engineering Challenges &amp; Implemented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4  —  Slide 6 of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t>Missing Clinical Values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Challenge: Patient records frequently omit test values (e.g. serum potassium or packed cell volume).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Solution: Implemented training-fitted Median/Mode imputation; strictly maintained zero data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97706"/>
                </a:solidFill>
              </a:defRPr>
            </a:pPr>
            <a:r>
              <a:t>Mixed Data Types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Challenge: Input contains numerical biomarkers, discrete stages, and categorical signs.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Solution: Unified Scikit-Learn ColumnTransformer pipeline with categorical encoding and feature scaling.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284C7"/>
                </a:solidFill>
              </a:defRPr>
            </a:pPr>
            <a:r>
              <a:t>Concurrency Collisions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Challenge: Multiple patients attempting simultaneous appointment booking on the same physician slot.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Solution: Engineered composite B-tree UNIQUE index and atomic stored procedure rollback.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Clinician Trust &amp; Adoption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Challenge: Doctors resist opaque AI predictions without physiological rationale.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Solution: Tree SHAP feature explanations with exact contribution scores per biomarker.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4: FINAL DEFENSE  •  REVIEW 4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Translational Clinical &amp; Economic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4  —  Slide 7 of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Early Detection Window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Enables therapeutic intervention (ACE inhibitors, SGLT2 inhibitors) before irreversible renal fibrotic scarring occurs.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Massive Cost Avoidance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Halting CKD progression avoids catastrophic lifelong hemodialysis expenses ($80,000+ per patient annually).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97706"/>
                </a:solidFill>
              </a:defRPr>
            </a:pPr>
            <a:r>
              <a:t>Rural Health Empowerment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Assists junior medical officers and rural clinics lacking immediate access to expert nephrologists.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284C7"/>
                </a:solidFill>
              </a:defRPr>
            </a:pPr>
            <a:r>
              <a:t>Hospital Operational Speed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Automates biomarker requisition workflows, reducing lab-to-consultation triage turnaround time by &gt;60%.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4: FINAL DEFENSE  •  REVIEW 4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Future Work &amp; Scaling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4  —  Slide 8 of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Scaling Roadmap for Post-Academic Deployment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1. Multi-Hospital Cohort Validation:</a:t>
            </a:r>
            <a:r>
              <a:rPr b="0">
                <a:solidFill>
                  <a:srgbClr val="1E293B"/>
                </a:solidFill>
              </a:rPr>
              <a:t> Validate models on diverse international multi-center patient datasets beyond the benchmark cohort.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2. KDIGO 5-Stage Multi-Class Prediction:</a:t>
            </a:r>
            <a:r>
              <a:rPr b="0">
                <a:solidFill>
                  <a:srgbClr val="1E293B"/>
                </a:solidFill>
              </a:rPr>
              <a:t> Extend binary classification to granular KDIGO Stage 1 through 5 progression modeling.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3. Longitudinal Time-Series Tracking:</a:t>
            </a:r>
            <a:r>
              <a:rPr b="0">
                <a:solidFill>
                  <a:srgbClr val="1E293B"/>
                </a:solidFill>
              </a:rPr>
              <a:t> Integrate LSTM/Transformer recurrent models to forecast eGFR trajectories over 5-year horizons.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4. Mobile Health &amp; Wearables Integration:</a:t>
            </a:r>
            <a:r>
              <a:rPr b="0">
                <a:solidFill>
                  <a:srgbClr val="1E293B"/>
                </a:solidFill>
              </a:rPr>
              <a:t> Connect real-time continuous glucose and blood pressure monitoring streams via IoT gateways.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4: FINAL DEFENSE  •  REVIEW 4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Conclusion &amp; Academic Defense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4  —  Slide 9 of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Capstone Project Completion Summary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Theoretical &amp; Engineering Rigor: </a:t>
            </a:r>
            <a:r>
              <a:rPr b="0">
                <a:solidFill>
                  <a:srgbClr val="1E293B"/>
                </a:solidFill>
              </a:rPr>
              <a:t>Demonstrated full compliance with database normalization (3NF), relational integrity, and state-of-the-art machine learning practices.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Zero Leakage Benchmark Performance: </a:t>
            </a:r>
            <a:r>
              <a:rPr b="0">
                <a:solidFill>
                  <a:srgbClr val="1E293B"/>
                </a:solidFill>
              </a:rPr>
              <a:t>100% sensitivity on held-out test data with explainable feature importance via Tree SHAP.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Production-Ready Multi-Role Portals: </a:t>
            </a:r>
            <a:r>
              <a:rPr b="0">
                <a:solidFill>
                  <a:srgbClr val="1E293B"/>
                </a:solidFill>
              </a:rPr>
              <a:t>FastAPI asynchronous service endpoints powering role-segregated portals with verified security safeguards.</a:t>
            </a:r>
          </a:p>
          <a:p>
            <a:pPr>
              <a:spcBef>
                <a:spcPts val="1000"/>
              </a:spcBef>
              <a:defRPr b="1" sz="1100">
                <a:solidFill>
                  <a:srgbClr val="059669"/>
                </a:solidFill>
              </a:defRPr>
            </a:pPr>
            <a:r>
              <a:t>• Thank You: </a:t>
            </a:r>
            <a:r>
              <a:rPr b="0">
                <a:solidFill>
                  <a:srgbClr val="1E293B"/>
                </a:solidFill>
              </a:rPr>
              <a:t>Open for Viva Questions, Evaluation Discussion, and Live System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