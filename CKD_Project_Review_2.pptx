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nephrology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4846320" cy="2704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CAPSTONE PROJECT EVALUATION  •  REVIEW 2: IMPLEMENTATION &amp; CODING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Implementation &amp; 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Database Scripts (DDL/DML), Stored Procedures, FastAPI REST API &amp; ML Model Training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Team 06 | Project Members: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2520090137 — Jayavarapu Sri Charan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2520080060 — J. Sohan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2520080036 — Adithya Vishnubatala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Course: 25CS1302E — Database Management Systems (DBS) | KL University (KLH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Dataset Characteristics &amp; Preprocessing Rigor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UCI Machine Learning Benchmark Dataset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400 Patient Records: </a:t>
            </a:r>
            <a:r>
              <a:rPr b="0"/>
              <a:t>Collected over Apollo Hospitals, Tamil Nadu; benchmark dataset for renal informatics.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24 Input Features: </a:t>
            </a:r>
            <a:r>
              <a:rPr b="0"/>
              <a:t>14 numerical biomarkers (bgr, bu, sc, sod, pot, hemo, pcv, wc, rc, age, bp, sg, al, su) + 10 categorical clinical signs (rbc, pc, pcc, ba, htn, dm, cad, appet, pe, ane).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Binary Target: </a:t>
            </a:r>
            <a:r>
              <a:rPr b="0"/>
              <a:t>'ckd' (Chronic Kidney Disease Detected) vs 'notckd' (Healthy Renal Function).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Zero Data Leakage Preprocessing Pipeline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Train/Test Separation: </a:t>
            </a:r>
            <a:r>
              <a:rPr b="0"/>
              <a:t>80/20 stratified split applied before any statistical computation, strictly preventing test information leakage.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Median/Mode Imputation: </a:t>
            </a:r>
            <a:r>
              <a:rPr b="0"/>
              <a:t>Numerical missing values imputed using training median; categoricals imputed with training mode.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StandardScaler Scaling: </a:t>
            </a:r>
            <a:r>
              <a:rPr b="0"/>
              <a:t>Standardization fitted solely on training set parameters (mean and standard deviation) and transformed across inference inputs.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Serialized Pipeline: </a:t>
            </a:r>
            <a:r>
              <a:rPr b="0"/>
              <a:t>Transformers persisted alongside model in best_model.joblib for identical inference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Database Engineering: DDL, Keys &amp;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schema.sql (Tables &amp; DDL)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Components: users, patients, doctors, medical_assessments, appointments, lab_tests, lab_results, predictions, clinical_notes, notifications, audit_logs.</a:t>
            </a:r>
          </a:p>
          <a:p>
            <a:pPr>
              <a:spcBef>
                <a:spcPts val="200"/>
              </a:spcBef>
              <a:defRPr b="1" sz="950">
                <a:solidFill>
                  <a:srgbClr val="0284C7"/>
                </a:solidFill>
              </a:defRPr>
            </a:pPr>
            <a:r>
              <a:t>DBMS Significance: Foreign key constraints with ON DELETE CASCADE and integrity CHECK constraints (e.g. valid phone formats, status values).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indexes.sql (B-Tree Performance)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Components: Indexes on users.email, patients.user_id, appointments.(doctor_id, appointment_date), and lab_tests.status.</a:t>
            </a:r>
          </a:p>
          <a:p>
            <a:pPr>
              <a:spcBef>
                <a:spcPts val="200"/>
              </a:spcBef>
              <a:defRPr b="1" sz="950">
                <a:solidFill>
                  <a:srgbClr val="0284C7"/>
                </a:solidFill>
              </a:defRPr>
            </a:pPr>
            <a:r>
              <a:t>DBMS Significance: Accelerates query execution times and optimizes joins across large patient cohorts.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seed.sql (Demonstration Data)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Components: Pre-populated sample records covering patients, specialized doctors, test requisitions, and historical predictions.</a:t>
            </a:r>
          </a:p>
          <a:p>
            <a:pPr>
              <a:spcBef>
                <a:spcPts val="200"/>
              </a:spcBef>
              <a:defRPr b="1" sz="950">
                <a:solidFill>
                  <a:srgbClr val="0284C7"/>
                </a:solidFill>
              </a:defRPr>
            </a:pPr>
            <a:r>
              <a:t>DBMS Significance: Allows instantaneous academic live demonstration across all four user portals.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Advanced DBMS: Stored Procedures &amp;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4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Stored Procedures &amp; Atomic Logic</a:t>
            </a:r>
          </a:p>
          <a:p>
            <a:pPr>
              <a:spcBef>
                <a:spcPts val="1000"/>
              </a:spcBef>
              <a:defRPr b="1" sz="1000">
                <a:solidFill>
                  <a:srgbClr val="1E293B"/>
                </a:solidFill>
              </a:defRPr>
            </a:pPr>
            <a:r>
              <a:t>sp_book_appointment: </a:t>
            </a:r>
            <a:r>
              <a:rPr b="0"/>
              <a:t>Atomically validates doctor schedule availability, checks for slot collision, and books appointment within a single transaction boundary.</a:t>
            </a:r>
          </a:p>
          <a:p>
            <a:pPr>
              <a:spcBef>
                <a:spcPts val="1000"/>
              </a:spcBef>
              <a:defRPr b="1" sz="1000">
                <a:solidFill>
                  <a:srgbClr val="1E293B"/>
                </a:solidFill>
              </a:defRPr>
            </a:pPr>
            <a:r>
              <a:t>sp_verify_lab_test: </a:t>
            </a:r>
            <a:r>
              <a:rPr b="0"/>
              <a:t>Transitions lab test status from 'PENDING' to 'VERIFIED', attaches verifier staff ID, and automatically creates a patient notification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Automated Database Triggers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trg_audit_prediction: </a:t>
            </a:r>
            <a:r>
              <a:rPr b="0"/>
              <a:t>Fires AFTER INSERT on predictions table. Automatically logs user ID, action ('RUN_PREDICTION'), and timestamp to audit_logs for medico-legal traceability.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trg_user_registration_audit: </a:t>
            </a:r>
            <a:r>
              <a:rPr b="0"/>
              <a:t>Fires AFTER INSERT on users table to ensure an immutable record of new account provisioning.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Double-Booking Guard: </a:t>
            </a:r>
            <a:r>
              <a:rPr b="0"/>
              <a:t>Composite UNIQUE constraints on (doctor_id, appointment_date, time_slot) guarantee zero race-condition collisions at the engine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FastAPI Backend &amp; RESTful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5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/api/auth/*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User login, JWT access token issuing, password verification using bcrypt, and user registration.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/api/patients/*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Patient profile management, medical assessment intake submission, and historical test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/api/predictions/*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Real-time ML inference triggering, SHAP value computation, and risk stratification persistence.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/api/appointments/*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Doctor directory browsing, appointment booking, slot cancellation, and doctor queue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Gradient Boosted Tree Models: XGBoost &amp; 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6 of 8</a:t>
            </a:r>
          </a:p>
        </p:txBody>
      </p:sp>
      <p:pic>
        <p:nvPicPr>
          <p:cNvPr id="7" name="Picture 6" descr="model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6583680" cy="3703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54480"/>
            <a:ext cx="3870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Model Benchmarks (Test Split):</a:t>
            </a:r>
          </a:p>
          <a:p>
            <a:pPr>
              <a:spcBef>
                <a:spcPts val="800"/>
              </a:spcBef>
              <a:defRPr b="1" sz="950">
                <a:solidFill>
                  <a:srgbClr val="1E293B"/>
                </a:solidFill>
              </a:defRPr>
            </a:pPr>
            <a:r>
              <a:t>XGBoost Classifier:</a:t>
            </a:r>
            <a:r>
              <a:rPr b="0"/>
              <a:t>
Accuracy: 100.0%, Precision: 100.0%, Recall (Sensitivity): 100.0%, F1-Score: 1.000, ROC-AUC: 1.000.</a:t>
            </a:r>
          </a:p>
          <a:p>
            <a:pPr>
              <a:spcBef>
                <a:spcPts val="800"/>
              </a:spcBef>
              <a:defRPr b="1" sz="950">
                <a:solidFill>
                  <a:srgbClr val="1E293B"/>
                </a:solidFill>
              </a:defRPr>
            </a:pPr>
            <a:r>
              <a:t>LightGBM Classifier:</a:t>
            </a:r>
            <a:r>
              <a:rPr b="0"/>
              <a:t>
Accuracy: 100.0%, Precision: 100.0%, Recall: 100.0%, F1-Score: 1.000, ROC-AUC: 1.000.</a:t>
            </a:r>
          </a:p>
          <a:p>
            <a:pPr>
              <a:spcBef>
                <a:spcPts val="800"/>
              </a:spcBef>
              <a:defRPr b="1" sz="950">
                <a:solidFill>
                  <a:srgbClr val="1E293B"/>
                </a:solidFill>
              </a:defRPr>
            </a:pPr>
            <a:r>
              <a:t>Production Choice:</a:t>
            </a:r>
            <a:r>
              <a:rPr b="0"/>
              <a:t>
XGBoost v1.0.0 selected for optimal tree stability and exact SHAP tree explainer compatibility.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Explainable AI (SHAP) Clinical Interpretability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7 of 8</a:t>
            </a:r>
          </a:p>
        </p:txBody>
      </p:sp>
      <p:pic>
        <p:nvPicPr>
          <p:cNvPr id="7" name="Picture 6" descr="shap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6583680" cy="43023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54480"/>
            <a:ext cx="3870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Key Clinical Feature Drivers: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1. Hemoglobin (hemo):</a:t>
            </a:r>
            <a:r>
              <a:rPr b="0"/>
              <a:t>
Strongest protective factor; drops severely in renal failure due to impaired erythropoietin production.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2. Specific Gravity (sg):</a:t>
            </a:r>
            <a:r>
              <a:rPr b="0"/>
              <a:t>
Low urinary concentration reflects loss of renal tubular concentrating capacity.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3. Serum Creatinine (sc):</a:t>
            </a:r>
            <a:r>
              <a:rPr b="0"/>
              <a:t>
Elevated values directly signify reduced glomerular filtration rate.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4. Albumin (al):</a:t>
            </a:r>
            <a:r>
              <a:rPr b="0"/>
              <a:t>
Proteinuria indicates breakdown of the glomerular filtration barrier.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2: SYSTEM IMPLEMENTATION  •  REVIEW 2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Review 2 Outcomes &amp; Progression to Review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2  —  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Implementation Phase Milestones Achieved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Core Database Built: </a:t>
            </a:r>
            <a:r>
              <a:rPr b="0">
                <a:solidFill>
                  <a:srgbClr val="1E293B"/>
                </a:solidFill>
              </a:rPr>
              <a:t>Full schema, indexes, procedures, and triggers implemented and seeded.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ML Models Trained &amp; Persisted: </a:t>
            </a:r>
            <a:r>
              <a:rPr b="0">
                <a:solidFill>
                  <a:srgbClr val="1E293B"/>
                </a:solidFill>
              </a:rPr>
              <a:t>XGBoost and LightGBM models trained with 100% sensitivity on held-out test split, zero data leakage.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FastAPI Backend Operational: </a:t>
            </a:r>
            <a:r>
              <a:rPr b="0">
                <a:solidFill>
                  <a:srgbClr val="1E293B"/>
                </a:solidFill>
              </a:rPr>
              <a:t>Full REST API connecting database entities to ML service endpoints.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Ready for Review 3 (Testing &amp; Integration): </a:t>
            </a:r>
            <a:r>
              <a:rPr b="0">
                <a:solidFill>
                  <a:srgbClr val="1E293B"/>
                </a:solidFill>
              </a:rPr>
              <a:t>Will demonstrate unit/integration testing suites, double-booking prevention proofs, and security RBAC gating.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